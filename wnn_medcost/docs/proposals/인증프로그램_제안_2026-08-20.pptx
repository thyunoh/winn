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한 문장 = 인증 준비를 '직전 몰아치기'에서 '평소 쌓이는 것'으로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얘기 전. 병원 담당자가 '맞다'고 느끼게 만드는 것이 이 장의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병원 규모가 클수록 공감이 크다. 실제 병원 사례를 하나 곁들이면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엑셀을 부정하지 않고 '해 보셨을 것'으로 인정하며 들어간다.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문장으로 기억시킬 슬라이드. '새 양식을 배우지 않는다'가 가장 큰 저항을 없앤다.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축은 뒤에서 한 장씩 펼친다.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부담을 낮추는 슬라이드. '처음부터 만들지 않는다'가 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담당자가 '복잡한 설정을 내가 해야 하나' 걱정하는 것을 미리 없앤다.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15개 부서는 실제 등록 기준. 병원 조직에 따라 조정 가능함을 반드시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등록 서식명. 병원이 '우리도 이거 쓴다'고 반응하면 계약이 가까워진다.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약국 마약류 대장은 인증에서 반드시 확인하는 항목 — 강조해도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장비별로 서식이 따로 있다는 점 — 모델명이 다르면 따로 등록해 장비를 구분한다.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엔진의 축 6가지를 병원 말로 옮긴 것. 기술 용어는 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실제 병원에서 쓰는 서식 구조를 그대로 옮긴 견본. 값은 예시.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'주기 복합'은 실제 구현된 기능. 종이와 화면이 어긋나지 않는다는 증거.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견본. 실제 등록된 「일일 위생점검표」 구조를 옮긴 것 — 항목명은 병원 판으로 바뀐다.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데모가 있으면 여기서 실제 화면을 보여주는 것이 가장 효과적.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칸 이름과 개수는 서식마다 정할 수 있다(최대 12칸).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'우리 병원 그 특이한 양식은 안 되겠지'라는 생각을 미리 막는다.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종이를 못 버리는 병원의 걱정을 없애는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경쟁 제품과의 진짜 차이. 시간을 넉넉히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76종은 실제 등록 수. 계열별로 메뉴가 묶여 있어 찾기 쉽다.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견본. 라벨을 바꿔 여러 보고서로 쓰는 구조를 눈으로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위원회는 병원마다 다르므로 '추가 가능'을 반드시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견본. 위원회는 병원 조직에 맞춰 추가할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QI는 컨설팅 경험이 드러나는 대목. 'PDCA가 닫히는가'를 병원 말로 풀었다.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부서 기록과 감염관리 기록이 따로 노는 문제를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고충 처리는 인증에서 자주 빠지는 항목.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공감이 큰 장. 시간을 넉넉히.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임의 % 수치는 넣지 않았다. 도입 병원 실측이 나오면 그때 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차별점 = 프로그램 회사가 아니라 컨설팅을 해 온 쪽이 만들었다는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일정·비용은 병원별로 채워 넣을 자리. 임의 수치를 넣지 않았다.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가장 많이 나오는 여섯 가지. 가격은 다음 장에서 협의로 넘긴다.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담당·연락처는 채워 넣을 자리(─). 마무리 = '서식 한 부 주시면 만들어 보여드린다'.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937760" cy="4937760"/>
          </a:xfrm>
          <a:prstGeom prst="ellipse">
            <a:avLst/>
          </a:prstGeom>
          <a:solidFill>
            <a:srgbClr val="0E7C6B">
              <a:alpha val="38000"/>
            </a:srgbClr>
          </a:solidFill>
          <a:ln w="12700">
            <a:solidFill>
              <a:srgbClr val="0E7C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297680"/>
            <a:ext cx="2926080" cy="2926080"/>
          </a:xfrm>
          <a:prstGeom prst="ellipse">
            <a:avLst/>
          </a:prstGeom>
          <a:solidFill>
            <a:srgbClr val="12A08A">
              <a:alpha val="26000"/>
            </a:srgbClr>
          </a:solidFill>
          <a:ln w="12700">
            <a:solidFill>
              <a:srgbClr val="12A0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61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요양병원 인증평가 준비 제안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인증프로그램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58368" y="261518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 질 향상 · 환자안전(QPS) 통합 관리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31455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점검표부터 회의록 · 보고서까지 — 인증 근거가 평소에 쌓입니다.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3968496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096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300여 종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8368" y="46451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91256" y="3968496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4096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76종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191256" y="46451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24144" y="3968496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4096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724144" y="46451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부서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58887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WinCheck+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지금인가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인증평가가 확인하는 것은 결국 「기록」입니다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10058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갖췄는지, 교육을 했는지, 점검을 했는지 — 확인하는 방법은 하나입니다.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일을 한 날짜에 남긴 기록이 있는가.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798064"/>
            <a:ext cx="2526716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999232"/>
            <a:ext cx="20146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· 지침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014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두었는가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1116" y="2798064"/>
            <a:ext cx="2526716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97148" y="2999232"/>
            <a:ext cx="20146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· 훈련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7148" y="3383280"/>
            <a:ext cx="2014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실시하고 남겼는가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23864" y="2798064"/>
            <a:ext cx="2526716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9896" y="2999232"/>
            <a:ext cx="20146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· 순회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9896" y="3383280"/>
            <a:ext cx="2014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주기대로 했는가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06611" y="2798064"/>
            <a:ext cx="2526716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62643" y="2999232"/>
            <a:ext cx="20146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활동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62643" y="3383280"/>
            <a:ext cx="2014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확인했는가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4443984"/>
            <a:ext cx="10874959" cy="1463040"/>
          </a:xfrm>
          <a:prstGeom prst="roundRect">
            <a:avLst>
              <a:gd name="adj" fmla="val 5625"/>
            </a:avLst>
          </a:prstGeom>
          <a:solidFill>
            <a:srgbClr val="FAF0E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24128" y="4718304"/>
            <a:ext cx="101434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해 동안 아무리 잘해도, 남은 것이 없으면 평가에서는 「하지 않은 것」이 됩니다.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24128" y="5175504"/>
            <a:ext cx="10143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인증 준비의 절반은 「무엇을 했는가」가 아니라 「어떻게 남기는가」입니다.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그 기록은 부서마다 흩어져 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67665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007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 · 병동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27248" y="170078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병동 캐비닛 파일철 · 개인 PC 엑셀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487168"/>
            <a:ext cx="6766560" cy="658368"/>
          </a:xfrm>
          <a:prstGeom prst="roundRect">
            <a:avLst>
              <a:gd name="adj" fmla="val 12500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4871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27248" y="24871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 안 바인더 · 손글씨 대장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273552"/>
            <a:ext cx="67665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273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· 조리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27248" y="327355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주방 벽 점검표 · 월말에 모아 정리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4059936"/>
            <a:ext cx="6766560" cy="658368"/>
          </a:xfrm>
          <a:prstGeom prst="roundRect">
            <a:avLst>
              <a:gd name="adj" fmla="val 12500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599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27248" y="405993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관리실 노트 · 사진은 휴대폰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4846320"/>
            <a:ext cx="67665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8463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진단검사 · 방사선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27248" y="48463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옆 개별 점검지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90688" y="1700784"/>
            <a:ext cx="3742639" cy="3968496"/>
          </a:xfrm>
          <a:prstGeom prst="roundRect">
            <a:avLst>
              <a:gd name="adj" fmla="val 2199"/>
            </a:avLst>
          </a:prstGeom>
          <a:solidFill>
            <a:srgbClr val="0B4A45"/>
          </a:solidFill>
          <a:ln w="12700">
            <a:solidFill>
              <a:srgbClr val="0B4A45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19872" y="1956816"/>
            <a:ext cx="30842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흩어지면 생기는 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19872" y="2450592"/>
            <a:ext cx="3084271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점검을 부서마다 다른 서식으로 한다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날짜를 아무도 모른다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바뀌면 서식이 사라진다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· 증빙이 개인 기기에 남는다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때 1년치를 다시 모은다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· 한글 파일로도 해 보셨을 겁니다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병원이 이미 파일로 바꿔 보았습니다. 그런데 대개 1년을 넘기지 못합니다.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487168"/>
            <a:ext cx="5282032" cy="3200400"/>
          </a:xfrm>
          <a:prstGeom prst="roundRect">
            <a:avLst>
              <a:gd name="adj" fmla="val 2571"/>
            </a:avLst>
          </a:prstGeom>
          <a:solidFill>
            <a:srgbClr val="F7F2EC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2706624"/>
            <a:ext cx="462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파일로 관리할 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3145536"/>
            <a:ext cx="4623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복사되며 여러 판이 생긴다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언제 고쳤는지 남지 않는다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부서마다 서식이 조금씩 달라진다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사진은 따로 폴더에 쌓인다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PC가 바뀌면 통째로 없어진다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1296" y="2487168"/>
            <a:ext cx="5282032" cy="3200400"/>
          </a:xfrm>
          <a:prstGeom prst="roundRect">
            <a:avLst>
              <a:gd name="adj" fmla="val 2571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0480" y="2706624"/>
            <a:ext cx="462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프로그램으로 관리할 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0480" y="3145536"/>
            <a:ext cx="4623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서식은 한 벌, 병원 전체가 같은 것을 쓴다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저장한 사람과 시각이 남는다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부서별로 나뉘어도 서식은 하나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사진이 그 서식에 붙는다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PC와 무관하게 서버에 남는다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371600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17556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쓰던 서식 그대로, 화면에서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724912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양식을 배우지 않습니다. 지금 병원이 쓰는 점검표 · 보고서를 그대로 화면에 옮겨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제자리에서 체크하면, 인증에 필요한 근거가 날짜별로 쌓입니다.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4206240"/>
            <a:ext cx="3456432" cy="1225296"/>
          </a:xfrm>
          <a:prstGeom prst="roundRect">
            <a:avLst>
              <a:gd name="adj" fmla="val 67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440740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→ 화면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0976" y="480974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 · 보관은 그대로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4206240"/>
            <a:ext cx="3456432" cy="1225296"/>
          </a:xfrm>
          <a:prstGeom prst="roundRect">
            <a:avLst>
              <a:gd name="adj" fmla="val 67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440740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480974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부서 것만 보인다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4206240"/>
            <a:ext cx="3456432" cy="1225296"/>
          </a:xfrm>
          <a:prstGeom prst="roundRect">
            <a:avLst>
              <a:gd name="adj" fmla="val 67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440740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평소에 쌓인다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39328" y="480974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때 모으지 않는다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구성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인증에 필요한 것이 한 화면 안에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3429914" cy="1737360"/>
          </a:xfrm>
          <a:prstGeom prst="roundRect">
            <a:avLst>
              <a:gd name="adj" fmla="val 4737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56816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4752" y="1975104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2487168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· 매주 · 매월 점검을 부서별로. 표준 서식 300여 종.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0890" y="1719072"/>
            <a:ext cx="3429914" cy="1737360"/>
          </a:xfrm>
          <a:prstGeom prst="roundRect">
            <a:avLst>
              <a:gd name="adj" fmla="val 4737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5210" y="1956816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521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7274" y="1975104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55210" y="2487168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사고보고 · 교육 · 상담 · 관리대장 등 76종.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3413" y="1719072"/>
            <a:ext cx="3429914" cy="1737360"/>
          </a:xfrm>
          <a:prstGeom prst="roundRect">
            <a:avLst>
              <a:gd name="adj" fmla="val 4737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7733" y="1956816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7733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89797" y="1975104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7733" y="2487168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위원회별 — 의안 · 의결 · 참석 서명까지 한 장에.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3730752"/>
            <a:ext cx="3429914" cy="1737360"/>
          </a:xfrm>
          <a:prstGeom prst="roundRect">
            <a:avLst>
              <a:gd name="adj" fmla="val 4737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" y="3968496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44752" y="3986784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QI 활동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498848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지표를 정하고 개선 활동을 기록으로 남깁니다.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80890" y="3730752"/>
            <a:ext cx="3429914" cy="1737360"/>
          </a:xfrm>
          <a:prstGeom prst="roundRect">
            <a:avLst>
              <a:gd name="adj" fmla="val 4737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55210" y="3968496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521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67274" y="3986784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55210" y="4498848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감시 · 교육 · 환경관리를 같은 틀로.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03413" y="3730752"/>
            <a:ext cx="3429914" cy="1737360"/>
          </a:xfrm>
          <a:prstGeom prst="roundRect">
            <a:avLst>
              <a:gd name="adj" fmla="val 4737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77733" y="3968496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7733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89797" y="3986784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 · 불만고충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77733" y="4498848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설문과 고충 접수를 기록으로.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8368" y="563270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가지가 서로 다른 프로그램이 아니라, 같은 화면 · 같은 방식으로 움직입니다.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들어 있는 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만들지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요양병원 프로그램 18개 모듈의 서식을 전수 조사해 표준 서식으로 옮겨 두었습니다.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도입하면 첫날부터 쓸 수 있는 상태입니다.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834640"/>
            <a:ext cx="2513000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3072384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300여 종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58368" y="3621024"/>
            <a:ext cx="251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45688" y="2834640"/>
            <a:ext cx="2513000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5688" y="3072384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76종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45688" y="3621024"/>
            <a:ext cx="251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3008" y="2834640"/>
            <a:ext cx="2513000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3008" y="3072384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33008" y="3621024"/>
            <a:ext cx="251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부서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20327" y="2834640"/>
            <a:ext cx="2513000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20327" y="3072384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5종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020327" y="3621024"/>
            <a:ext cx="251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회의록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4517136"/>
            <a:ext cx="10874959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7552" y="47000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서식이 있다는 것의 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87552" y="5084064"/>
            <a:ext cx="1021659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병원이 쓰는 서식과 대조만 하면 됩니다. 같은 것은 그대로 쓰고, 다른 것만 병원 판으로 고칩니다.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서식을 처음부터 만드는 시간이 없어 도입이 빠릅니다.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구조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보는 화면은 하나입니다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272888" cy="3931920"/>
          </a:xfrm>
          <a:prstGeom prst="roundRect">
            <a:avLst>
              <a:gd name="adj" fmla="val 2093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1975104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 담당자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4128" y="2395728"/>
            <a:ext cx="454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화면 하나만 씁니다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24128" y="2926080"/>
            <a:ext cx="329184" cy="32918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1328" y="2889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부서를 연다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2889504"/>
            <a:ext cx="2163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메뉴가 부서로 나뉘어 있습니다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24128" y="3584448"/>
            <a:ext cx="329184" cy="32918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81328" y="35478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서식을 고른다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1568" y="3547872"/>
            <a:ext cx="2163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부서 점검표만 나옵니다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4128" y="4242816"/>
            <a:ext cx="329184" cy="32918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81328" y="42062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체크하고 저장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01568" y="4206240"/>
            <a:ext cx="2163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필요하면 사진을 붙입니다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4128" y="4901184"/>
            <a:ext cx="329184" cy="32918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901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81328" y="48646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인쇄한다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01568" y="4864608"/>
            <a:ext cx="2163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양식 그대로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0440" y="1737360"/>
            <a:ext cx="5272888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26200" y="1975104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관리자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626200" y="2395728"/>
            <a:ext cx="454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병원은 쓰지 않아도 되는 화면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6200" y="2926080"/>
            <a:ext cx="4175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서식의 항목 · 주기 · 칸 수를 정한다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 양식에 맞춰 이름을 바꾼다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칸을 넣고 뺀다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서식을 등록한다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26200" y="50292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 화면은 공급 측에서 맡습니다. 병원은 요청만 하시면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담당자는 자기 부서 것만 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37360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 · 병동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73593" y="1737360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3593" y="1737360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88819" y="1737360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8819" y="1737360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04044" y="1737360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04044" y="1737360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19270" y="1737360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9270" y="1737360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진단검사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2578608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78608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방사선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73593" y="2578608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73593" y="2578608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인공신장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88819" y="2578608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8819" y="2578608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물리재활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04044" y="2578608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04044" y="2578608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의무기록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19270" y="2578608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19270" y="2578608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원무 · 총무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" y="3419856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419856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보건관리자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873593" y="3419856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73593" y="3419856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사회복지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88819" y="3419856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8819" y="3419856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진료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04044" y="3419856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04044" y="3419856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519270" y="3419856"/>
            <a:ext cx="2014057" cy="640080"/>
          </a:xfrm>
          <a:prstGeom prst="roundRect">
            <a:avLst>
              <a:gd name="adj" fmla="val 11429"/>
            </a:avLst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19270" y="3419856"/>
            <a:ext cx="201405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QI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4334256"/>
            <a:ext cx="10874959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87552" y="453542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메뉴가 부서로 나뉘어 있어, 담당자는 자기 부서를 열면 그 부서 점검표만 나옵니다.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7552" y="491947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서식을 찾아 헤매지 않고, 다른 부서 것을 잘못 쓰는 일도 없습니다.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부서는 병원 조직에 맞춰 더하거나 합칠 수 있습니다.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96528" y="4590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300여 종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8796528" y="5138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내장된 표준 점검표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예시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 · 병동 / 감염관리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아래는 실제로 등록되어 있는 서식 이름입니다. 병원에서 쓰시는 것과 비교해 보십시오.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286000"/>
            <a:ext cx="5282032" cy="3383280"/>
          </a:xfrm>
          <a:prstGeom prst="roundRect">
            <a:avLst>
              <a:gd name="adj" fmla="val 2432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976" y="2487168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 · 병동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50976" y="2889504"/>
            <a:ext cx="4696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고압증기멸균기 일일점검표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GAS 멸균기 일일점검표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낙상예방 시설환경 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낙상 예방을 위한 환경 및 시설물 점검대장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세탁물 집하장 소독 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세탁물집하장 운반용기 소독 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병동 의약품 신청서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 반납 / 폐기 신청서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1296" y="2286000"/>
            <a:ext cx="5282032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43904" y="2487168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43904" y="2889504"/>
            <a:ext cx="4696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손위생 수행도 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격리실 관리 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의료폐기물 보관 점검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표면 소독 점검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감염 노출 보고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 교육 실시 기록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예시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 / 영양 · 조리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282032" cy="3931920"/>
          </a:xfrm>
          <a:prstGeom prst="roundRect">
            <a:avLst>
              <a:gd name="adj" fmla="val 2093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1938528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50976" y="2340864"/>
            <a:ext cx="46968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 · 습도 · 의약품 냉장고 온도 점검일지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마약류관리보조자 지정 및 임시마약류비치서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마약류 반납 대장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의약품 불출 대장 / 입출고 대장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봉인 스티커 관리(월별)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의약품 반납 · 폐기 신청서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1296" y="1737360"/>
            <a:ext cx="5282032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43904" y="1938528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· 조리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43904" y="2340864"/>
            <a:ext cx="46968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위생점검표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식중독 예방 위생 점검 일지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개인위생 확인 기록지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 · 냉동고 온도 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청소계획표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영양초기평가 불량환자 관리 리스트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예시 ③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 / 진단검사 · 방사선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282032" cy="3931920"/>
          </a:xfrm>
          <a:prstGeom prst="roundRect">
            <a:avLst>
              <a:gd name="adj" fmla="val 2093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1938528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50976" y="2340864"/>
            <a:ext cx="46968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시설물 안전 관리 계획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 안전 점검 일지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U.P.S 점검 일지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가스시설 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 폐기물 취급부서 월 안전 점검일지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 및 엘리베이터 청소 · 소독 점검표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1296" y="1737360"/>
            <a:ext cx="5282032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43904" y="1938528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진단검사 · 방사선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43904" y="2340864"/>
            <a:ext cx="46968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원심분리기 일일점검표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현미경 일일점검표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소변분석기 일일점검표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혈액가스분석기 일일점검표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당화혈색소 분석기 일일점검표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TLD(개인피폭선량계) 관리대장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모양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서식의 생김새를 그대로 담습니다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 점검표는 생김새가 제각각입니다. 여섯 가지 틀로 대부분을 그대로 옮깁니다.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377440"/>
            <a:ext cx="344210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259689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× 날짜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3017520"/>
            <a:ext cx="28934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세로로, 1~31일을 가로로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4794" y="2377440"/>
            <a:ext cx="344210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9114" y="259689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× 날짜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49114" y="3017520"/>
            <a:ext cx="28934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항목을 세로로, 날짜를 가로로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1221" y="2377440"/>
            <a:ext cx="344210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5541" y="259689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× 시간대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65541" y="3017520"/>
            <a:ext cx="28934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하루를 세로로, 시간대를 가로로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931920"/>
            <a:ext cx="3442106" cy="1298448"/>
          </a:xfrm>
          <a:prstGeom prst="roundRect">
            <a:avLst>
              <a:gd name="adj" fmla="val 633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415137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× 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32688" y="4572000"/>
            <a:ext cx="28934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12개월을 가로로 (연간 관리)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74794" y="3931920"/>
            <a:ext cx="3442106" cy="1298448"/>
          </a:xfrm>
          <a:prstGeom prst="roundRect">
            <a:avLst>
              <a:gd name="adj" fmla="val 633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49114" y="415137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× 고정 열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649114" y="4572000"/>
            <a:ext cx="28934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직종 · 업체 등 정해진 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1221" y="3931920"/>
            <a:ext cx="3442106" cy="1298448"/>
          </a:xfrm>
          <a:prstGeom prst="roundRect">
            <a:avLst>
              <a:gd name="adj" fmla="val 633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5541" y="415137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명단형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365541" y="4572000"/>
            <a:ext cx="28934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대상자가 늘어나는 대장 · 목록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554126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화면이 종이와 같은 모양이라, 담당자가 보던 자리에 그대로 표시합니다.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견본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날짜가 세로로 내려가는 점검표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0934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검체 냉장고 온도 점검표처럼 하루 한 줄씩 채우는 서식입니다. 종이와 같은 자리에 값을 넣습니다.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04825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482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검체 냉장고 온도 점검표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688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: 진단검사    2026 년 08 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743200"/>
            <a:ext cx="6858000" cy="256032"/>
          </a:xfrm>
          <a:prstGeom prst="rect">
            <a:avLst/>
          </a:prstGeom>
          <a:solidFill>
            <a:srgbClr val="EAF4F1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 적정온도 : 2~8 ℃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01752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1828800"/>
                <a:gridCol w="1737360"/>
              </a:tblGrid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냉장고 온도 (10am)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5.1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4.6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3.9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⋮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⋮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⋮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⋮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4.4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882128" y="2048256"/>
            <a:ext cx="3651199" cy="3566160"/>
          </a:xfrm>
          <a:prstGeom prst="roundRect">
            <a:avLst>
              <a:gd name="adj" fmla="val 2308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93024" y="2267712"/>
            <a:ext cx="3029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서식에서 눈여겨볼 것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93024" y="2706624"/>
            <a:ext cx="302940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· 부서 · 년월이 종이와 같은 자리</a:t>
            </a:r>
            <a:endParaRPr lang="en-US" sz="13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적정범위 안내문이 표 위에 그대로</a:t>
            </a:r>
            <a:endParaRPr lang="en-US" sz="13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1~31일이 미리 깔려 있어 빠진 날이 보인다</a:t>
            </a:r>
            <a:endParaRPr lang="en-US" sz="13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점검자 칸까지 함께 남는다</a:t>
            </a:r>
            <a:endParaRPr lang="en-US" sz="13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저장하면 그대로 인쇄된다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 관리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· 매주 · 매월 · 연간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252671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56816"/>
            <a:ext cx="1005840" cy="402336"/>
          </a:xfrm>
          <a:prstGeom prst="roundRect">
            <a:avLst>
              <a:gd name="adj" fmla="val 47727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568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505456"/>
            <a:ext cx="1978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1~31일 격자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89504"/>
            <a:ext cx="19780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 온도 · 장비 점검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41116" y="1737360"/>
            <a:ext cx="252671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15436" y="1956816"/>
            <a:ext cx="1005840" cy="402336"/>
          </a:xfrm>
          <a:prstGeom prst="roundRect">
            <a:avLst>
              <a:gd name="adj" fmla="val 47727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5436" y="19568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15436" y="2505456"/>
            <a:ext cx="1978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1~5주 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5436" y="2889504"/>
            <a:ext cx="19780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청결 · 재고 확인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23864" y="1737360"/>
            <a:ext cx="252671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8184" y="1956816"/>
            <a:ext cx="1005840" cy="402336"/>
          </a:xfrm>
          <a:prstGeom prst="roundRect">
            <a:avLst>
              <a:gd name="adj" fmla="val 47727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8184" y="19568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8184" y="2505456"/>
            <a:ext cx="1978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8184" y="2889504"/>
            <a:ext cx="19780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점검 · 교육 실시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611" y="1737360"/>
            <a:ext cx="252671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80931" y="1956816"/>
            <a:ext cx="1005840" cy="402336"/>
          </a:xfrm>
          <a:prstGeom prst="roundRect">
            <a:avLst>
              <a:gd name="adj" fmla="val 47727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0931" y="19568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80931" y="2505456"/>
            <a:ext cx="1978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격자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80931" y="2889504"/>
            <a:ext cx="19780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정도관리 · 계약 · 검교정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4059936"/>
            <a:ext cx="10874959" cy="1700784"/>
          </a:xfrm>
          <a:prstGeom prst="roundRect">
            <a:avLst>
              <a:gd name="adj" fmla="val 4839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24128" y="42793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주기가 섞여 있어도 그대로 담깁니다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4128" y="46634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병원 서식은 한 장 안에 매일 표 · 매주 표 · 매월 표가 함께 있는 경우가 많습니다.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모양 그대로 등록되어, 종이와 같은 자리에 같은 방식으로 체크합니다.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서식을 쪼개거나 새로 만들 필요가 없습니다.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견본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항목이 세로, 날짜가 가로인 점검표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0934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여러 항목을 두고 날짜마다 표시하는 서식입니다. 매일 · 매주 · 매월이 한 장에 섞여도 그대로 담깁니다.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10874959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11680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위생점검표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32304"/>
            <a:ext cx="10692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: 영양 · 조리    2026 년 08 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706624"/>
            <a:ext cx="10874959" cy="256032"/>
          </a:xfrm>
          <a:prstGeom prst="rect">
            <a:avLst/>
          </a:prstGeom>
          <a:solidFill>
            <a:srgbClr val="EAF4F1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06624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결과 : ○ 양호 / △ 보통 / × 불량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980944"/>
          <a:ext cx="1087495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 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조리종사자 개인위생 (복장 · 두발)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조리기구 · 도마 소독 상태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냉장 · 냉동고 온도 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식재료 보관 상태 (선입선출)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조리장 바닥 · 배수구 청결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58368" y="554126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항목 이름 · 개수 · 표시 기호(○△×)는 병원 서식에 맞춰 정합니다. 「점검자」 줄처럼 값이 글자인 칸도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방법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하는 일은 세 가지뿐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92224"/>
            <a:ext cx="3381146" cy="2523744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066544"/>
            <a:ext cx="548640" cy="54864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761488"/>
            <a:ext cx="27227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부서와 서식을 고른다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552" y="3255264"/>
            <a:ext cx="27227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메뉴에서 내 부서를 열면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쓰던 점검표가 그대로 나옵니다.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94378" y="276148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05274" y="1792224"/>
            <a:ext cx="3381146" cy="2523744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4458" y="2066544"/>
            <a:ext cx="548640" cy="54864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4458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4458" y="2761488"/>
            <a:ext cx="27227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체크하고 값을 넣는다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734458" y="3255264"/>
            <a:ext cx="27227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칸에 표시하고,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필요하면 사진을 붙입니다.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41285" y="276148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152181" y="1792224"/>
            <a:ext cx="3381146" cy="2523744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81365" y="2066544"/>
            <a:ext cx="548640" cy="54864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1365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81365" y="2761488"/>
            <a:ext cx="27227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· 인쇄한다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8481365" y="3255264"/>
            <a:ext cx="27227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저장하면 근거가 쌓이고,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양식 그대로 출력됩니다.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572000"/>
            <a:ext cx="10874959" cy="1188720"/>
          </a:xfrm>
          <a:prstGeom prst="roundRect">
            <a:avLst>
              <a:gd name="adj" fmla="val 6923"/>
            </a:avLst>
          </a:prstGeom>
          <a:solidFill>
            <a:srgbClr val="FAF0E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7552" y="4736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교육이 거의 필요 없습니다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5102352"/>
            <a:ext cx="10216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종이 서식과 같은 모양이라, 쓰던 대로 체크하면 됩니다. 별도 교육 없이 시작할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사진이 서식에 붙습니다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82496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점검했다는 사실만이 아니라 그때의 상태를 남깁니다.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누르면 사진이 올라가고, 인쇄하면 서식과 사진이 함께 나옵니다.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743200"/>
            <a:ext cx="219456" cy="219456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6883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점검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24912" y="2688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소화기 · 비상구 · 게시물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383280"/>
            <a:ext cx="219456" cy="219456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3284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· 행사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24912" y="3328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 장면과 참석 현황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023360"/>
            <a:ext cx="219456" cy="219456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9684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기록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39684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상담일지에 첨부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4663440"/>
            <a:ext cx="219456" cy="219456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6085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관리대장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24912" y="4608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· 물품 상태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5303520"/>
            <a:ext cx="219456" cy="219456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52486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활동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24912" y="52486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전 · 조치 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76288" y="1682496"/>
            <a:ext cx="4657039" cy="4023360"/>
          </a:xfrm>
          <a:prstGeom prst="roundRect">
            <a:avLst>
              <a:gd name="adj" fmla="val 2045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87184" y="1883664"/>
            <a:ext cx="40352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하단 · 사진 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87184" y="2304288"/>
            <a:ext cx="1907896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967396" y="2633472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87184" y="3072384"/>
            <a:ext cx="190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14536" y="2304288"/>
            <a:ext cx="1907896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0094747" y="2633472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4536" y="3072384"/>
            <a:ext cx="190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87184" y="3840480"/>
            <a:ext cx="1907896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967396" y="4169664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87184" y="4608576"/>
            <a:ext cx="190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 상태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14536" y="3840480"/>
            <a:ext cx="1907896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0094747" y="4169664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14536" y="4608576"/>
            <a:ext cx="190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 · 라벨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까다로운 서식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특이한 양식도 그대로 담깁니다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틀에 안 맞는 서식이 병원마다 몇 개씩 있습니다. 그런 것들도 담을 수 있게 만들었습니다.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487168"/>
            <a:ext cx="53003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976" y="2670048"/>
            <a:ext cx="471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표가 여러 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976" y="3035808"/>
            <a:ext cx="471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문서에 같은 표가 2벌 · 3벌 반복되는 양식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50976" y="3401568"/>
            <a:ext cx="471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인사기록카드 · 완결도 집계표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487168"/>
            <a:ext cx="5300320" cy="1298448"/>
          </a:xfrm>
          <a:prstGeom prst="roundRect">
            <a:avLst>
              <a:gd name="adj" fmla="val 633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5616" y="2670048"/>
            <a:ext cx="471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안의 서명란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25616" y="3035808"/>
            <a:ext cx="471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서명이 별도 칸이 아니라 표의 열로 들어간 양식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25616" y="3401568"/>
            <a:ext cx="471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혈액 반납 · 폐기 신청서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041648"/>
            <a:ext cx="53003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" y="4224528"/>
            <a:ext cx="471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이름이 다른 양식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" y="4590288"/>
            <a:ext cx="471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틀이지만 병원마다 칸 이름이 다른 경우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50976" y="4956048"/>
            <a:ext cx="471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교육 결과 · 상담 일지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3008" y="4041648"/>
            <a:ext cx="5300320" cy="1298448"/>
          </a:xfrm>
          <a:prstGeom prst="roundRect">
            <a:avLst>
              <a:gd name="adj" fmla="val 633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25616" y="4224528"/>
            <a:ext cx="471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문구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25616" y="4590288"/>
            <a:ext cx="471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같은 주의문 · 안내문이 인쇄되어야 하는 양식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25616" y="4956048"/>
            <a:ext cx="471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폐기물 · 마약류 관련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 · 보관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종이는 없어지지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화면으로 바꾼다고 종이를 버리는 것이 아닙니다. 필요할 때 같은 모양으로 출력합니다.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46888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" y="268833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모양으로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9264" y="3127248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작성한 것이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서식과 같은 배치로 나옵니다.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4794" y="246888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85690" y="268833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5690" y="3127248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기간과 부서로 골라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분량만 출력합니다.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1221" y="246888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02117" y="268833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사진까지 함께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02117" y="3127248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첨부한 사진이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아래에 같이 인쇄됩니다.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572000"/>
            <a:ext cx="10874959" cy="1188720"/>
          </a:xfrm>
          <a:prstGeom prst="roundRect">
            <a:avLst>
              <a:gd name="adj" fmla="val 6923"/>
            </a:avLst>
          </a:prstGeom>
          <a:solidFill>
            <a:srgbClr val="FAF0E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87552" y="4754880"/>
            <a:ext cx="10216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 때 요청받은 자료를 그 자리에서 뽑을 수 있습니다.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87552" y="5138928"/>
            <a:ext cx="10216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전에 1년치를 미리 인쇄해 편철해 둘 필요가 없습니다.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프로그램에 박혀 있지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점검표는 코드가 아니라 자료로 들어 있습니다. 그래서 병원마다 다른 양식도,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바뀐 항목도 프로그램을 고치지 않고 반영할 수 있습니다.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651760"/>
            <a:ext cx="5282032" cy="2688336"/>
          </a:xfrm>
          <a:prstGeom prst="roundRect">
            <a:avLst>
              <a:gd name="adj" fmla="val 3061"/>
            </a:avLst>
          </a:prstGeom>
          <a:solidFill>
            <a:srgbClr val="F7F2EC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2852928"/>
            <a:ext cx="462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보통의 프로그램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87552" y="3273552"/>
            <a:ext cx="462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화면에 그려져 있다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하나 바뀌면 개발 요청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병원마다 다른 양식은 포기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반영까지 몇 주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1296" y="2651760"/>
            <a:ext cx="5282032" cy="2688336"/>
          </a:xfrm>
          <a:prstGeom prst="roundRect">
            <a:avLst>
              <a:gd name="adj" fmla="val 3061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0480" y="2852928"/>
            <a:ext cx="462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WinCheck+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0480" y="3273552"/>
            <a:ext cx="462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자료로 등록되어 있다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주기 · 칸 수를 화면에서 수정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병원 양식을 그대로 등록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 반영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5522976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인증 기준이 바뀌어도, 병원이 서식을 바꿔도 프로그램은 그대로 씁니다.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점검표만으로는 인증이 채워지지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3442106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920240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· 안전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26771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낙상 · 투약오류 · 고장 보고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4794" y="1737360"/>
            <a:ext cx="3442106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9114" y="1920240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의약품 · 혈액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9114" y="226771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반납 · 폐기 · 병동 신청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1221" y="1737360"/>
            <a:ext cx="3442106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5541" y="1920240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보건관리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5541" y="226771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건강검진 · 상담일지 · 업무일지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2962656"/>
            <a:ext cx="3442106" cy="1042416"/>
          </a:xfrm>
          <a:prstGeom prst="roundRect">
            <a:avLst>
              <a:gd name="adj" fmla="val 7895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" y="3145536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· 총무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" y="3493008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결과 · 위탁업체 평가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74794" y="2962656"/>
            <a:ext cx="3442106" cy="1042416"/>
          </a:xfrm>
          <a:prstGeom prst="roundRect">
            <a:avLst>
              <a:gd name="adj" fmla="val 7895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9114" y="3145536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의무기록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9114" y="3493008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완결도 · 법정 양식(의료법 별지)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1221" y="2962656"/>
            <a:ext cx="3442106" cy="1042416"/>
          </a:xfrm>
          <a:prstGeom prst="roundRect">
            <a:avLst>
              <a:gd name="adj" fmla="val 7895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65541" y="3145536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· 사회복지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65541" y="3493008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 점검 · 상담 · 프로그램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4315968"/>
            <a:ext cx="10874959" cy="1426464"/>
          </a:xfrm>
          <a:prstGeom prst="roundRect">
            <a:avLst>
              <a:gd name="adj" fmla="val 5769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2688" y="45171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76종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32688" y="50657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보고서 · 서식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10128" y="4572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반복되는 표, 서명란, 정해진 문구까지 그대로 담습니다.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종이를 여러 부서가 쓰면 한 벌로 등록해 부서끼리 서식이 어긋나지 않게 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견본 ③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— 사고 보고 · 교육 결과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0934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점검표와 달리 항목마다 내용을 적는 서식입니다. 서명란 · 정해진 문구 · 사진까지 한 장에 담깁니다.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6675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116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환자안전사고 보고서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3230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보고일 : 2026-08-20    부서 : 간호 · 병동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74320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48840"/>
                <a:gridCol w="1188720"/>
                <a:gridCol w="2148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발생일시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2026-08-19  14:30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발생장소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3병동 복도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사고 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낙상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손상 정도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 경위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 이동 중 미끄러짐. 목격자 있음.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활력징후 측정 · 주치의 보고 · 상처 없음 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복도 미끄럼 방지 매트 보강, 야간 순회 강화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보고자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김○○ (서명)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수간호사 (서명)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99248" y="2011680"/>
            <a:ext cx="3834079" cy="1828800"/>
          </a:xfrm>
          <a:prstGeom prst="roundRect">
            <a:avLst>
              <a:gd name="adj" fmla="val 45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73568" y="2176272"/>
            <a:ext cx="3285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첨부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973568" y="2523744"/>
            <a:ext cx="1551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7973568" y="2999232"/>
            <a:ext cx="155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현장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707728" y="2523744"/>
            <a:ext cx="1551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9707728" y="2999232"/>
            <a:ext cx="155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후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99248" y="3986784"/>
            <a:ext cx="3834079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73568" y="4169664"/>
            <a:ext cx="32854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이름은 병원 말로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973568" y="4517136"/>
            <a:ext cx="32854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틀을 「교육 결과 보고서」로 쓰면 칸 이름이 교육일시 · 대상 · 강사 · 내용으로 바뀝니다.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없는 칸은 숨깁니다.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회의록도 같은 방식으로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2820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938528"/>
            <a:ext cx="462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들어가는 것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87552" y="2359152"/>
            <a:ext cx="4623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 · 임시 구분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 · 장소 · 간사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의안과 의결 내용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참석자 명단과 서명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회의 안건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1296" y="1737360"/>
            <a:ext cx="5282032" cy="3200400"/>
          </a:xfrm>
          <a:prstGeom prst="roundRect">
            <a:avLst>
              <a:gd name="adj" fmla="val 2571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0480" y="1938528"/>
            <a:ext cx="462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위원회별로 따로 쌓입니다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0480" y="2395728"/>
            <a:ext cx="431276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3360" y="2395728"/>
            <a:ext cx="400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 향상 · 환자안전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0480" y="2871216"/>
            <a:ext cx="431276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3360" y="2871216"/>
            <a:ext cx="400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0480" y="3346704"/>
            <a:ext cx="431276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3360" y="3346704"/>
            <a:ext cx="400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약사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0480" y="3822192"/>
            <a:ext cx="431276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3360" y="3822192"/>
            <a:ext cx="400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0480" y="4297680"/>
            <a:ext cx="431276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3360" y="4297680"/>
            <a:ext cx="400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512064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" y="5120640"/>
            <a:ext cx="102165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인증에서 자주 확인하는 것이 「위원회가 실제로 열렸는가」입니다 — 연간 개최 실적을 따로 정리할 필요가 없습니다.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견본 ④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 — 의안부터 참석 서명까지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0934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회의록도 같은 방식입니다. 위원회를 고르면 그 위원회 회의록만 쌓입니다.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6742475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11680"/>
            <a:ext cx="67424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 향상 · 환자안전 위원회 회의록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32304"/>
            <a:ext cx="65595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제3차 (정기)    2026-08-20  15:00    회의실</a:t>
            </a:r>
            <a:endParaRPr lang="en-US" sz="9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743200"/>
          <a:ext cx="67424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370875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위원장 외 7명 (참석 서명 별첨)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의안 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상반기 낙상 발생 현황 및 개선 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야간 순회 주기 조정안 원안 의결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의안 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손위생 수행도 점검 결과 보고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부서별 재교육 실시 후 9월 재측정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차기 안건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하반기 환자안전 교육 계획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66603" y="2011680"/>
            <a:ext cx="3766724" cy="1737360"/>
          </a:xfrm>
          <a:prstGeom prst="roundRect">
            <a:avLst>
              <a:gd name="adj" fmla="val 4737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40923" y="2194560"/>
            <a:ext cx="321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참석자 서명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40923" y="2542032"/>
            <a:ext cx="32180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열로 들어가는 서명란도 그대로 담깁니다.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인쇄하면 종이와 같은 자리에 나옵니다.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66603" y="3895344"/>
            <a:ext cx="376672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40923" y="4078224"/>
            <a:ext cx="321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중요한가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40923" y="4425696"/>
            <a:ext cx="3218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인증에서 자주 확인하는 것이 「위원회가 정말 열렸는가」입니다.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회의록이 프로그램에 남으면 연간 개최 실적을 따로 정리하지 않아도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QI 활동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 향상 활동을 기록으로 남깁니다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지표를 정하고 · 재고 · 개선하고 · 다시 재는 과정을 한 화면에서 관리합니다.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395728"/>
            <a:ext cx="252671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615184"/>
            <a:ext cx="457200" cy="45720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3182112"/>
            <a:ext cx="1978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선정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3547872"/>
            <a:ext cx="197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개선할지 정한다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3372" y="30175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D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41116" y="2395728"/>
            <a:ext cx="252671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15436" y="2615184"/>
            <a:ext cx="457200" cy="45720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5436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15436" y="3182112"/>
            <a:ext cx="1978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측정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15436" y="3547872"/>
            <a:ext cx="197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수준을 잰다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86120" y="30175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D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23864" y="2395728"/>
            <a:ext cx="252671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8184" y="2615184"/>
            <a:ext cx="457200" cy="45720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8184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8184" y="3182112"/>
            <a:ext cx="1978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활동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8184" y="3547872"/>
            <a:ext cx="197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했는지 남긴다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768867" y="30175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D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006611" y="2395728"/>
            <a:ext cx="252671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80931" y="2615184"/>
            <a:ext cx="457200" cy="45720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0931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80931" y="3182112"/>
            <a:ext cx="1978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확인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80931" y="3547872"/>
            <a:ext cx="197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달라졌는지 다시 잰다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8368" y="4407408"/>
            <a:ext cx="10874959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87552" y="4590288"/>
            <a:ext cx="10216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인증에서 QI는 「활동을 했는가」가 아니라 「돌아갔는가」를 봅니다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7552" y="4974336"/>
            <a:ext cx="102165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시작만 있고 결과가 없는 활동이 가장 흔한 지적입니다. 네 단계가 한 화면에 있어 빠진 단계가 눈에 보입니다.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감시 · 교육 · 환경을 같은 틀로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282032" cy="3931920"/>
          </a:xfrm>
          <a:prstGeom prst="roundRect">
            <a:avLst>
              <a:gd name="adj" fmla="val 2093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1938528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기록으로 남는 것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50976" y="2340864"/>
            <a:ext cx="46968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손위생 수행도 점검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격리실 · 환경 표면 관리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의료폐기물 보관 · 배출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감염 노출 보고와 조치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 교육 실시 기록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감염관리위원회 회의록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1296" y="1737360"/>
            <a:ext cx="5282032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0480" y="1956816"/>
            <a:ext cx="462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한 틀로 묶었나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80480" y="2432304"/>
            <a:ext cx="43127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 기록은 간호 · 시설 · 진단검사 · 영양에 흩어져 있습니다.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부서에서는 각자 자기 점검표로 쓰고, 감염관리 담당자는 그것을 한 자리에서 모아 봅니다.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자료를 두 번 쓰지 않습니다.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 · 불만고충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환자와 직원의 목소리도 기록입니다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282032" cy="3931920"/>
          </a:xfrm>
          <a:prstGeom prst="roundRect">
            <a:avLst>
              <a:gd name="adj" fmla="val 2093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956816"/>
            <a:ext cx="462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 조사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450592"/>
            <a:ext cx="4623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 · 보호자 · 직원 대상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 결과를 화면에서 집계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기간별 비교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활동으로 연결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87552" y="4791456"/>
            <a:ext cx="462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인증은 조사를 했는지보다 결과로 무엇을 바꿨는지를 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1296" y="1737360"/>
            <a:ext cx="5282032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0480" y="1956816"/>
            <a:ext cx="462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불만 · 고충 접수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0480" y="2450592"/>
            <a:ext cx="43127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· 처리 · 회신을 한 건으로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언제 처리했는지 남음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반복되는 고충을 찾아낸다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기한 관리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0480" y="4791456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대장을 따로 쓰지 않아도 처리 이력이 그대로 근거가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인증평가 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모으는 것이 아니라, 쌓여 있는 것을 꺼냅니다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5282032" cy="3602736"/>
          </a:xfrm>
          <a:prstGeom prst="roundRect">
            <a:avLst>
              <a:gd name="adj" fmla="val 2284"/>
            </a:avLst>
          </a:prstGeom>
          <a:solidFill>
            <a:srgbClr val="F7F2EC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1938528"/>
            <a:ext cx="455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24505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2개월 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32888" y="2450592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1년치 서류를 부서마다 요청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31455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 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3145536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기록을 찾아 다시 작성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3840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2888" y="3840480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 · 편철 · 목록 만들기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4535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32888" y="4535424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요청받은 자료를 찾아 헤맴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51296" y="1719072"/>
            <a:ext cx="5282032" cy="3602736"/>
          </a:xfrm>
          <a:prstGeom prst="roundRect">
            <a:avLst>
              <a:gd name="adj" fmla="val 2284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17056" y="1938528"/>
            <a:ext cx="455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17056" y="24505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5816" y="2450592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그날그날 체크 · 저장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17056" y="31455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5816" y="3145536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기간과 부서로 골라 조회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17056" y="3840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준비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5816" y="3840480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것만 출력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17056" y="4535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5816" y="4535424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바로 확인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5522976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기간을 없애는 것이 아니라, 준비라는 일 자체를 평소로 옮깁니다.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344210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1938528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누락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9264" y="2359152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 화면에서 체크하므로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날짜가 남지 않습니다.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4794" y="1737360"/>
            <a:ext cx="344210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5690" y="1938528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교체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5690" y="2359152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프로그램에 있어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바뀌어도 그대로입니다.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1221" y="1737360"/>
            <a:ext cx="344210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02117" y="1938528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간 편차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2117" y="2359152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서식을 함께 쓰므로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부서마다 다르지 않습니다.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675888"/>
            <a:ext cx="3442106" cy="1773936"/>
          </a:xfrm>
          <a:prstGeom prst="roundRect">
            <a:avLst>
              <a:gd name="adj" fmla="val 4639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9264" y="387705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준비 기간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9264" y="4297680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1년치를 모으는 일이 없어집니다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74794" y="3675888"/>
            <a:ext cx="3442106" cy="1773936"/>
          </a:xfrm>
          <a:prstGeom prst="roundRect">
            <a:avLst>
              <a:gd name="adj" fmla="val 4639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85690" y="387705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 대응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85690" y="4297680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자료를 그 자리에서 출력합니다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1221" y="3675888"/>
            <a:ext cx="3442106" cy="1773936"/>
          </a:xfrm>
          <a:prstGeom prst="roundRect">
            <a:avLst>
              <a:gd name="adj" fmla="val 4639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02117" y="387705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파악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02117" y="4297680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진행 상황을 한눈에 봅니다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5632704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절감 시간 · 비용은 병원 규모와 부서 수에 따라 달라 별도로 산정합니다.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후 지원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프로그램만 드리고 끝나지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300320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01168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29968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등록 · 변경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450592"/>
            <a:ext cx="420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 양식을 받아 등록하고, 바뀌면 반영합니다.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008" y="1737360"/>
            <a:ext cx="530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25616" y="201168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5616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37680" y="2029968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서식 추가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37680" y="2450592"/>
            <a:ext cx="420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서식이 생기면 요청만 하시면 됩니다.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383280"/>
            <a:ext cx="530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0976" y="365760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675888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교체 지원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096512"/>
            <a:ext cx="420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인수인계 때 서식은 그대로 남습니다.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3008" y="3383280"/>
            <a:ext cx="5300320" cy="1371600"/>
          </a:xfrm>
          <a:prstGeom prst="roundRect">
            <a:avLst>
              <a:gd name="adj" fmla="val 6000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25616" y="365760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5616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37680" y="3675888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준비 자문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37680" y="4096512"/>
            <a:ext cx="420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남겨야 하는지 함께 정리합니다.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4700016"/>
            <a:ext cx="10874959" cy="1060704"/>
          </a:xfrm>
          <a:prstGeom prst="roundRect">
            <a:avLst>
              <a:gd name="adj" fmla="val 7759"/>
            </a:avLst>
          </a:prstGeom>
          <a:solidFill>
            <a:srgbClr val="0B4A45"/>
          </a:solidFill>
          <a:ln w="12700">
            <a:solidFill>
              <a:srgbClr val="0B4A45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60704" y="4700016"/>
            <a:ext cx="1007028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적정성평가 컨설팅에서 쌓은 경험을 그대로 씁니다 — 프로그램 회사가 아니라, 같은 일을 해 온 쪽이 만듭니다.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절차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단계로 시작합니다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92224"/>
            <a:ext cx="2540432" cy="2468880"/>
          </a:xfrm>
          <a:prstGeom prst="roundRect">
            <a:avLst>
              <a:gd name="adj" fmla="val 3333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029968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0976" y="2670048"/>
            <a:ext cx="195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확인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3090672"/>
            <a:ext cx="195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쓰는 서식을 받습니다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3785616"/>
            <a:ext cx="195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: 사본 · 사진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36544" y="1792224"/>
            <a:ext cx="254043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9152" y="2029968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9152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29152" y="2670048"/>
            <a:ext cx="195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등록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29152" y="3090672"/>
            <a:ext cx="195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서식과 대조해 병원 판으로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29152" y="3785616"/>
            <a:ext cx="195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: 등록 목록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4720" y="1792224"/>
            <a:ext cx="254043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7328" y="2029968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7328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2670048"/>
            <a:ext cx="195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운영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7328" y="3090672"/>
            <a:ext cx="195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한두 부서로 먼저 써 봅니다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07328" y="3785616"/>
            <a:ext cx="195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: 사용 의견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92895" y="1792224"/>
            <a:ext cx="254043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85503" y="2029968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5503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5503" y="2670048"/>
            <a:ext cx="195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부서 확대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85503" y="3090672"/>
            <a:ext cx="195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부서를 넓히고 담당자 안내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85503" y="3785616"/>
            <a:ext cx="195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: 부서별 계정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4517136"/>
            <a:ext cx="10874959" cy="1243584"/>
          </a:xfrm>
          <a:prstGeom prst="roundRect">
            <a:avLst>
              <a:gd name="adj" fmla="val 6618"/>
            </a:avLst>
          </a:prstGeom>
          <a:solidFill>
            <a:srgbClr val="FAF0E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24128" y="46817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준비해 주실 것은 하나입니다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24128" y="5047488"/>
            <a:ext cx="101434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쓰고 계신 점검표 · 보고서 양식(사본 또는 사진). 나머지는 저희가 진행합니다.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기간과 비용은 병원 규모 · 부서 수 · 서식 수에 따라 달라집니다 — 별도 협의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전에 확인하시는 것들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30032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56816"/>
            <a:ext cx="347472" cy="347472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08176" y="1938528"/>
            <a:ext cx="425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쓰던 종이 서식을 버려야 하나요?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08176" y="2359152"/>
            <a:ext cx="425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아닙니다. 화면에서 작성하고 같은 모양으로 인쇄합니다.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737360"/>
            <a:ext cx="530032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7328" y="1956816"/>
            <a:ext cx="347472" cy="347472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7328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82816" y="1938528"/>
            <a:ext cx="425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병원 양식이 달라도 되나요?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82816" y="2359152"/>
            <a:ext cx="425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서식이 자료로 등록되어 병원 판으로 맞춥니다.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200400"/>
            <a:ext cx="5300320" cy="1243584"/>
          </a:xfrm>
          <a:prstGeom prst="roundRect">
            <a:avLst>
              <a:gd name="adj" fmla="val 661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3419856"/>
            <a:ext cx="347472" cy="347472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08176" y="3401568"/>
            <a:ext cx="425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컴퓨터에 약합니다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08176" y="3822192"/>
            <a:ext cx="425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체크와 숫자 입력이 전부입니다. 종이와 같은 자리에 표시합니다.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3008" y="3200400"/>
            <a:ext cx="5300320" cy="1243584"/>
          </a:xfrm>
          <a:prstGeom prst="roundRect">
            <a:avLst>
              <a:gd name="adj" fmla="val 661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7328" y="3419856"/>
            <a:ext cx="347472" cy="347472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7328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82816" y="3401568"/>
            <a:ext cx="425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자료도 옮길 수 있나요?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82816" y="3822192"/>
            <a:ext cx="425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기록은 필요한 범위를 정해 협의합니다.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4663440"/>
            <a:ext cx="530032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2688" y="4882896"/>
            <a:ext cx="347472" cy="347472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882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08176" y="4864608"/>
            <a:ext cx="425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기준이 바뀌면요?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08176" y="5285232"/>
            <a:ext cx="425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서식만 고치면 됩니다. 프로그램은 그대로 씁니다.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33008" y="4663440"/>
            <a:ext cx="530032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07328" y="4882896"/>
            <a:ext cx="347472" cy="347472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7328" y="4882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82816" y="4864608"/>
            <a:ext cx="425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부서를 나중에 늘려도 되나요?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82816" y="5285232"/>
            <a:ext cx="425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부서 · 서식 모두 뒤에 더할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931920"/>
            <a:ext cx="4389120" cy="4389120"/>
          </a:xfrm>
          <a:prstGeom prst="ellipse">
            <a:avLst/>
          </a:prstGeom>
          <a:solidFill>
            <a:srgbClr val="0E7C6B">
              <a:alpha val="32000"/>
            </a:srgbClr>
          </a:solidFill>
          <a:ln w="12700">
            <a:solidFill>
              <a:srgbClr val="0E7C6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353312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계신 서식 한 부만 주십시오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2706624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서식으로 화면을 만들어 보여 드리겠습니다.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우리 병원 양식이 화면에서 어떻게 움직이는지 보신 뒤에 결정하셔도 늦지 않습니다.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42062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4370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32688" y="46451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33088" y="42062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4370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07408" y="46451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7808" y="42062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4370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82128" y="46451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5852160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WinCheck+  |  인증 · 적정성평가 지원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WinCheck+ 인증프로그램 제안</dc:title>
  <dc:subject>PptxGenJS Presentation</dc:subject>
  <dc:creator>PptxGenJS</dc:creator>
  <cp:lastModifiedBy>PptxGenJS</cp:lastModifiedBy>
  <cp:revision>1</cp:revision>
  <dcterms:created xsi:type="dcterms:W3CDTF">2026-08-20T08:42:24Z</dcterms:created>
  <dcterms:modified xsi:type="dcterms:W3CDTF">2026-08-20T08:42:24Z</dcterms:modified>
</cp:coreProperties>
</file>