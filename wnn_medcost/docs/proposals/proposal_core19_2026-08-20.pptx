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= 인증 준비를 '직전 몰아치기'에서 '평소 쌓이는 것'으로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얘기 전. 병원이 '맞다'고 느끼게 하는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엑셀·한글 파일로 바꿔 본 병원도 대개 1년을 못 넘긴다는 얘기를 곁들인다.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'새 양식을 배우지 않는다'가 가장 큰 저항을 없앤다.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축은 뒤에서 펼친다.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 + 부서를 한 장에 합쳤다. '처음부터 만들지 않는다'가 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실제 서식 구조를 옮긴 견본. 값은 예시.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견본. 실제 등록된 「일일 위생점검표」 구조 — 항목명은 병원 판으로 바뀐다.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'주기 복합'은 실제 구현된 기능. 종이와 화면이 어긋나지 않는다는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데모가 있으면 여기서 실제 화면을 보여주는 것이 가장 효과적.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칸 이름과 개수는 서식마다 정할 수 있다(최대 12칸).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제품과의 진짜 차이. 시간을 넉넉히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76종은 실제 등록 수. 계열별로 메뉴가 묶여 있어 찾기 쉽다.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견본. 라벨을 바꿔 여러 보고서로 쓰는 구조를 눈으로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축을 한 장에 압축. 필요하면 각각 한 장씩 펼친 판도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공감이 큰 장. 시간을 넉넉히.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절감 % 는 병원마다 달라 넣지 않았다. 도입 병원 실측 후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일정·비용은 병원별로 채워 넣을 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담당·연락처는 채울 자리. 마무리 = '서식 한 부 주시면 만들어 보여드린다'.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937760" cy="4937760"/>
          </a:xfrm>
          <a:prstGeom prst="ellipse">
            <a:avLst/>
          </a:prstGeom>
          <a:solidFill>
            <a:srgbClr val="0E7C6B">
              <a:alpha val="38000"/>
            </a:srgbClr>
          </a:solidFill>
          <a:ln w="12700">
            <a:solidFill>
              <a:srgbClr val="0E7C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297680"/>
            <a:ext cx="2926080" cy="2926080"/>
          </a:xfrm>
          <a:prstGeom prst="ellipse">
            <a:avLst/>
          </a:prstGeom>
          <a:solidFill>
            <a:srgbClr val="12A08A">
              <a:alpha val="26000"/>
            </a:srgbClr>
          </a:solidFill>
          <a:ln w="12700">
            <a:solidFill>
              <a:srgbClr val="12A08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618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요양병원 인증평가 준비 제안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인증프로그램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261518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 질 향상 · 환자안전(QPS) 통합 관리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8368" y="31455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점검표부터 회의록 · 보고서까지 — 인증 근거가 평소에 쌓입니다.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3968496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096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300여 종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46451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91256" y="3968496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4096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76종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191256" y="46451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24144" y="3968496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40965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5724144" y="46451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부서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58887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WinCheck+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지금인가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인증평가가 확인하는 것은 결국 「기록」입니다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0058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갖췄는지, 교육을 했는지, 점검을 했는지 — 확인하는 방법은 하나입니다.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일을 한 날짜에 남긴 기록이 있는가.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743200"/>
            <a:ext cx="2526716" cy="1335024"/>
          </a:xfrm>
          <a:prstGeom prst="roundRect">
            <a:avLst>
              <a:gd name="adj" fmla="val 616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926080"/>
            <a:ext cx="20146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· 지침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2014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두었는가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1116" y="2743200"/>
            <a:ext cx="2526716" cy="1335024"/>
          </a:xfrm>
          <a:prstGeom prst="roundRect">
            <a:avLst>
              <a:gd name="adj" fmla="val 616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97148" y="2926080"/>
            <a:ext cx="20146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· 훈련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7148" y="3310128"/>
            <a:ext cx="2014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실시하고 남겼는가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23864" y="2743200"/>
            <a:ext cx="2526716" cy="1335024"/>
          </a:xfrm>
          <a:prstGeom prst="roundRect">
            <a:avLst>
              <a:gd name="adj" fmla="val 616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9896" y="2926080"/>
            <a:ext cx="20146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· 순회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9896" y="3310128"/>
            <a:ext cx="2014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주기대로 했는가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06611" y="2743200"/>
            <a:ext cx="2526716" cy="1335024"/>
          </a:xfrm>
          <a:prstGeom prst="roundRect">
            <a:avLst>
              <a:gd name="adj" fmla="val 616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62643" y="2926080"/>
            <a:ext cx="20146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활동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62643" y="3310128"/>
            <a:ext cx="20146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확인했는가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4352544"/>
            <a:ext cx="10874959" cy="1463040"/>
          </a:xfrm>
          <a:prstGeom prst="roundRect">
            <a:avLst>
              <a:gd name="adj" fmla="val 5625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4128" y="4626864"/>
            <a:ext cx="101434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해 동안 아무리 잘해도, 남은 것이 없으면 평가에서는 「하지 않은 것」이 됩니다.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24128" y="5084064"/>
            <a:ext cx="10143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인증 준비의 절반은 「무엇을 했는가」가 아니라 「어떻게 남기는가」입니다.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그 기록은 부서마다 흩어져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82496"/>
            <a:ext cx="66751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824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 · 병동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27248" y="16824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병동 캐비닛 파일철 · 개인 PC 엑셀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450592"/>
            <a:ext cx="6675120" cy="640080"/>
          </a:xfrm>
          <a:prstGeom prst="roundRect">
            <a:avLst>
              <a:gd name="adj" fmla="val 12857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450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27248" y="24505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 안 바인더 · 손글씨 대장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218688"/>
            <a:ext cx="66751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18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· 조리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27248" y="32186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주방 벽 점검표 · 월말에 모아 정리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986784"/>
            <a:ext cx="6675120" cy="640080"/>
          </a:xfrm>
          <a:prstGeom prst="roundRect">
            <a:avLst>
              <a:gd name="adj" fmla="val 12857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98678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27248" y="39867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관리실 노트 · 사진은 휴대폰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4754880"/>
            <a:ext cx="66751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754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진단검사 · 방사선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27248" y="4754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옆 개별 점검지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99248" y="1682496"/>
            <a:ext cx="3834079" cy="3877056"/>
          </a:xfrm>
          <a:prstGeom prst="roundRect">
            <a:avLst>
              <a:gd name="adj" fmla="val 2146"/>
            </a:avLst>
          </a:prstGeom>
          <a:solidFill>
            <a:srgbClr val="0B4A45"/>
          </a:solidFill>
          <a:ln w="12700">
            <a:solidFill>
              <a:srgbClr val="0B4A45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28432" y="1920240"/>
            <a:ext cx="3175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흩어지면 생기는 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28432" y="2414016"/>
            <a:ext cx="3175711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점검을 부서마다 다른 서식으로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날짜를 아무도 모른다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바뀌면 서식이 사라진다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· 증빙이 개인 기기에 남는다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때 1년치를 다시 모은다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371600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1755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쓰던 서식 그대로, 화면에서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724912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양식을 배우지 않습니다. 지금 병원이 쓰는 점검표 · 보고서를 그대로 화면에 옮겨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제자리에서 체크하면, 인증에 필요한 근거가 날짜별로 쌓입니다.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4206240"/>
            <a:ext cx="3456432" cy="1225296"/>
          </a:xfrm>
          <a:prstGeom prst="roundRect">
            <a:avLst>
              <a:gd name="adj" fmla="val 67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440740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→ 화면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0976" y="480974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 · 보관은 그대로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4206240"/>
            <a:ext cx="3456432" cy="1225296"/>
          </a:xfrm>
          <a:prstGeom prst="roundRect">
            <a:avLst>
              <a:gd name="adj" fmla="val 67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440740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480974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부서 것만 보인다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4206240"/>
            <a:ext cx="3456432" cy="1225296"/>
          </a:xfrm>
          <a:prstGeom prst="roundRect">
            <a:avLst>
              <a:gd name="adj" fmla="val 67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440740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평소에 쌓인다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39328" y="480974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때 모으지 않는다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구성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인증에 필요한 것이 한 화면 안에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3429914" cy="1719072"/>
          </a:xfrm>
          <a:prstGeom prst="roundRect">
            <a:avLst>
              <a:gd name="adj" fmla="val 4787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38528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4752" y="1956816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450592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· 매주 · 매월 점검을 부서별로. 표준 서식 300여 종.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0890" y="1700784"/>
            <a:ext cx="3429914" cy="1719072"/>
          </a:xfrm>
          <a:prstGeom prst="roundRect">
            <a:avLst>
              <a:gd name="adj" fmla="val 4787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5210" y="1938528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5210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7274" y="1956816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55210" y="2450592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사고보고 · 교육 · 상담 · 관리대장 등 76종.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3413" y="1700784"/>
            <a:ext cx="3429914" cy="1719072"/>
          </a:xfrm>
          <a:prstGeom prst="roundRect">
            <a:avLst>
              <a:gd name="adj" fmla="val 4787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7733" y="1938528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7733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89797" y="1956816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7733" y="2450592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위원회별 — 의안 · 의결 · 참석 서명까지 한 장에.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3694176"/>
            <a:ext cx="3429914" cy="1719072"/>
          </a:xfrm>
          <a:prstGeom prst="roundRect">
            <a:avLst>
              <a:gd name="adj" fmla="val 4787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" y="393192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44752" y="3950208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QI 활동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443984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지표를 정하고 개선 활동을 기록으로 남깁니다.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80890" y="3694176"/>
            <a:ext cx="3429914" cy="1719072"/>
          </a:xfrm>
          <a:prstGeom prst="roundRect">
            <a:avLst>
              <a:gd name="adj" fmla="val 4787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55210" y="393192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521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7274" y="3950208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55210" y="4443984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감시 · 교육 · 환경관리를 같은 틀로.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03413" y="3694176"/>
            <a:ext cx="3429914" cy="1719072"/>
          </a:xfrm>
          <a:prstGeom prst="roundRect">
            <a:avLst>
              <a:gd name="adj" fmla="val 4787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7733" y="393192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7733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89797" y="3950208"/>
            <a:ext cx="23692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· 불만고충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77733" y="4443984"/>
            <a:ext cx="28812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설문과 고충 접수를 기록으로.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8368" y="557784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가지가 서로 다른 프로그램이 아니라, 같은 화면 · 같은 방식으로 움직입니다.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들어 있는 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만들지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요양병원 프로그램 18개 모듈의 서식을 전수 조사해 표준 서식으로 옮겨 두었습니다.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 서식과 대조만 하면 되므로 도입이 빠릅니다.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779776"/>
            <a:ext cx="2513000" cy="1335024"/>
          </a:xfrm>
          <a:prstGeom prst="roundRect">
            <a:avLst>
              <a:gd name="adj" fmla="val 616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999232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300여 종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58368" y="3547872"/>
            <a:ext cx="251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점검표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45688" y="2779776"/>
            <a:ext cx="2513000" cy="1335024"/>
          </a:xfrm>
          <a:prstGeom prst="roundRect">
            <a:avLst>
              <a:gd name="adj" fmla="val 616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5688" y="2999232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76종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445688" y="3547872"/>
            <a:ext cx="251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2779776"/>
            <a:ext cx="2513000" cy="1335024"/>
          </a:xfrm>
          <a:prstGeom prst="roundRect">
            <a:avLst>
              <a:gd name="adj" fmla="val 616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3008" y="2999232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6233008" y="3547872"/>
            <a:ext cx="251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부서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20327" y="2779776"/>
            <a:ext cx="2513000" cy="1335024"/>
          </a:xfrm>
          <a:prstGeom prst="roundRect">
            <a:avLst>
              <a:gd name="adj" fmla="val 6164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20327" y="2999232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5종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9020327" y="3547872"/>
            <a:ext cx="251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 회의록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4443984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443984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 · 병동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36026" y="4443984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6026" y="4443984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13684" y="4443984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3684" y="4443984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91342" y="4443984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342" y="4443984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69000" y="4443984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9000" y="4443984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진단검사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546657" y="4443984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6657" y="4443984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방사선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24315" y="4443984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24315" y="4443984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인공신장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301973" y="4443984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01973" y="4443984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물리재활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" y="5010912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5010912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의무기록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036026" y="5010912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36026" y="5010912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원무 · 총무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413684" y="5010912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3684" y="5010912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보건관리자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91342" y="5010912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342" y="5010912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사회복지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69000" y="5010912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69000" y="5010912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진료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546657" y="5010912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6657" y="5010912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924315" y="5010912"/>
            <a:ext cx="123135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24315" y="5010912"/>
            <a:ext cx="1231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QI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58368" y="5614416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메뉴가 부서로 나뉘어 있어 담당자는 자기 부서 것만 봅니다 — 부서는 병원 조직에 맞춰 더하거나 합칠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견본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날짜가 세로로 내려가는 점검표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591056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검체 냉장고 온도 점검표처럼 하루 한 줄씩 채우는 서식입니다. 종이와 같은 자리에 값을 넣습니다.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02996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29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검체 냉장고 온도 점검표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505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: 진단검사    2026 년 08 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724912"/>
            <a:ext cx="6858000" cy="256032"/>
          </a:xfrm>
          <a:prstGeom prst="rect">
            <a:avLst/>
          </a:prstGeom>
          <a:solidFill>
            <a:srgbClr val="EAF4F1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249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 적정온도 : 2~8 ℃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999232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1828800"/>
                <a:gridCol w="1737360"/>
              </a:tblGrid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냉장고 온도 (10am)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5.1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4.6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3.9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⋮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⋮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⋮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⋮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4.4 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김○○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882128" y="2029968"/>
            <a:ext cx="3651199" cy="3566160"/>
          </a:xfrm>
          <a:prstGeom prst="roundRect">
            <a:avLst>
              <a:gd name="adj" fmla="val 2308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93024" y="2249424"/>
            <a:ext cx="3029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눈여겨볼 것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93024" y="2688336"/>
            <a:ext cx="302940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· 부서 · 년월이 종이와 같은 자리</a:t>
            </a:r>
            <a:endParaRPr lang="en-US" sz="13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적정범위 안내문이 표 위에 그대로</a:t>
            </a:r>
            <a:endParaRPr lang="en-US" sz="13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1~31일이 깔려 있어 빠진 날이 보인다</a:t>
            </a:r>
            <a:endParaRPr lang="en-US" sz="13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점검자 칸까지 함께 남는다</a:t>
            </a:r>
            <a:endParaRPr lang="en-US" sz="13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저장하면 그대로 인쇄된다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견본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항목이 세로, 날짜가 가로인 점검표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591056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여러 항목을 두고 날짜마다 표시하는 서식입니다. 매일 · 매주 · 매월이 한 장에 섞여도 그대로 담깁니다.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10874959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93392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위생점검표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14016"/>
            <a:ext cx="10692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: 영양 · 조리    2026 년 08 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688336"/>
            <a:ext cx="10874959" cy="256032"/>
          </a:xfrm>
          <a:prstGeom prst="rect">
            <a:avLst/>
          </a:prstGeom>
          <a:solidFill>
            <a:srgbClr val="EAF4F1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688336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결과 : ○ 양호 / △ 보통 / × 불량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962656"/>
          <a:ext cx="1087495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  <a:gridCol w="639547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 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조리종사자 개인위생 (복장 · 두발)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조리기구 · 도마 소독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냉장 · 냉동고 온도 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식재료 보관 상태 (선입선출)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조리장 바닥 · 배수구 청결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58368" y="550468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항목 이름 · 개수 · 표시 기호(○△×)는 병원 서식에 맞춰 정합니다. 「점검자」 줄처럼 값이 글자인 칸도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 관리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· 매주 · 매월 · 연간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2526716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38528"/>
            <a:ext cx="1005840" cy="402336"/>
          </a:xfrm>
          <a:prstGeom prst="roundRect">
            <a:avLst>
              <a:gd name="adj" fmla="val 4772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385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487168"/>
            <a:ext cx="1978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1~31일 격자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871216"/>
            <a:ext cx="19780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 온도 · 장비 점검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1116" y="1719072"/>
            <a:ext cx="2526716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15436" y="1938528"/>
            <a:ext cx="1005840" cy="402336"/>
          </a:xfrm>
          <a:prstGeom prst="roundRect">
            <a:avLst>
              <a:gd name="adj" fmla="val 4772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5436" y="19385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15436" y="2487168"/>
            <a:ext cx="1978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1~5주 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5436" y="2871216"/>
            <a:ext cx="19780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청결 · 재고 확인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23864" y="1719072"/>
            <a:ext cx="2526716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8184" y="1938528"/>
            <a:ext cx="1005840" cy="402336"/>
          </a:xfrm>
          <a:prstGeom prst="roundRect">
            <a:avLst>
              <a:gd name="adj" fmla="val 4772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8184" y="19385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매월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8184" y="2487168"/>
            <a:ext cx="1978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8184" y="2871216"/>
            <a:ext cx="19780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점검 · 교육 실시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611" y="1719072"/>
            <a:ext cx="2526716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80931" y="1938528"/>
            <a:ext cx="1005840" cy="402336"/>
          </a:xfrm>
          <a:prstGeom prst="roundRect">
            <a:avLst>
              <a:gd name="adj" fmla="val 4772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0931" y="19385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80931" y="2487168"/>
            <a:ext cx="1978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격자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0931" y="2871216"/>
            <a:ext cx="19780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정도관리 · 계약 · 검교정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4023360"/>
            <a:ext cx="10874959" cy="1737360"/>
          </a:xfrm>
          <a:prstGeom prst="roundRect">
            <a:avLst>
              <a:gd name="adj" fmla="val 4737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24128" y="42428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주기가 섞여 있어도 그대로 담깁니다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4128" y="4626864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병원 서식은 한 장 안에 매일 표 · 매주 표 · 매월 표가 함께 있는 경우가 많습니다.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모양 그대로 등록되어, 종이와 같은 자리에 같은 방식으로 체크합니다.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서식을 쪼개거나 새로 만들 필요가 없습니다.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방법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하는 일은 세 가지뿐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3381146" cy="2523744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029968"/>
            <a:ext cx="548640" cy="5486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724912"/>
            <a:ext cx="27227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부서와 서식을 고른다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552" y="3218688"/>
            <a:ext cx="27227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메뉴에서 내 부서를 열면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쓰던 점검표가 그대로 나옵니다.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4378" y="272491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05274" y="1755648"/>
            <a:ext cx="3381146" cy="2523744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4458" y="2029968"/>
            <a:ext cx="548640" cy="5486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4458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4458" y="2724912"/>
            <a:ext cx="27227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체크하고 값을 넣는다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734458" y="3218688"/>
            <a:ext cx="27227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칸에 표시하고,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필요하면 사진을 붙입니다.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41285" y="272491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FDC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152181" y="1755648"/>
            <a:ext cx="3381146" cy="2523744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81365" y="2029968"/>
            <a:ext cx="548640" cy="54864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1365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81365" y="2724912"/>
            <a:ext cx="27227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· 인쇄한다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8481365" y="3218688"/>
            <a:ext cx="27227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저장하면 근거가 쌓이고,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양식 그대로 출력됩니다.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535424"/>
            <a:ext cx="10874959" cy="1225296"/>
          </a:xfrm>
          <a:prstGeom prst="roundRect">
            <a:avLst>
              <a:gd name="adj" fmla="val 6716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7552" y="47000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교육이 거의 필요 없습니다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5065776"/>
            <a:ext cx="10216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종이 서식과 같은 모양이라, 쓰던 대로 체크하면 됩니다. 별도 교육 없이 시작할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사진이 서식에 붙습니다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점검했다는 사실만이 아니라 그때의 상태를 남깁니다.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누르면 사진이 올라가고, 인쇄하면 서식과 사진이 함께 나옵니다.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724912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670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점검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24912" y="26700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소화기 · 비상구 · 게시물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346704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918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· 행사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24912" y="3291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 장면과 참석 현황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968496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913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기록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3913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상담일지에 첨부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4590288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354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관리대장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24912" y="4535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· 물품 상태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5212080"/>
            <a:ext cx="219456" cy="219456"/>
          </a:xfrm>
          <a:prstGeom prst="ellipse">
            <a:avLst/>
          </a:prstGeom>
          <a:solidFill>
            <a:srgbClr val="12A08A"/>
          </a:solidFill>
          <a:ln w="12700">
            <a:solidFill>
              <a:srgbClr val="12A0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51572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활동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24912" y="51572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전 · 조치 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76288" y="1664208"/>
            <a:ext cx="4657039" cy="4023360"/>
          </a:xfrm>
          <a:prstGeom prst="roundRect">
            <a:avLst>
              <a:gd name="adj" fmla="val 2045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87184" y="1865376"/>
            <a:ext cx="40352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하단 · 사진 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87184" y="2286000"/>
            <a:ext cx="1907896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967396" y="2615184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7184" y="3054096"/>
            <a:ext cx="190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14536" y="2286000"/>
            <a:ext cx="1907896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094747" y="2615184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4536" y="3054096"/>
            <a:ext cx="190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87184" y="3822192"/>
            <a:ext cx="1907896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967396" y="4151376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87184" y="4590288"/>
            <a:ext cx="190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 상태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14536" y="3822192"/>
            <a:ext cx="1907896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0094747" y="4151376"/>
            <a:ext cx="347472" cy="347472"/>
          </a:xfrm>
          <a:prstGeom prst="ellipse">
            <a:avLst/>
          </a:prstGeom>
          <a:solidFill>
            <a:srgbClr val="EAF4F1"/>
          </a:solidFill>
          <a:ln w="12700">
            <a:solidFill>
              <a:srgbClr val="BFDC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14536" y="4590288"/>
            <a:ext cx="190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· 라벨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프로그램에 박혀 있지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점검표는 코드가 아니라 자료로 들어 있습니다. 그래서 병원마다 다른 양식도,</a:t>
            </a:r>
            <a:endParaRPr lang="en-US" sz="15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 바뀐 항목도 프로그램을 고치지 않고 반영할 수 있습니다.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633472"/>
            <a:ext cx="5282032" cy="2688336"/>
          </a:xfrm>
          <a:prstGeom prst="roundRect">
            <a:avLst>
              <a:gd name="adj" fmla="val 3061"/>
            </a:avLst>
          </a:prstGeom>
          <a:solidFill>
            <a:srgbClr val="F7F2EC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2834640"/>
            <a:ext cx="462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보통의 프로그램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87552" y="3255264"/>
            <a:ext cx="462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화면에 그려져 있다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하나 바뀌면 개발 요청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병원마다 다른 양식은 포기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반영까지 몇 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1296" y="2633472"/>
            <a:ext cx="5282032" cy="2688336"/>
          </a:xfrm>
          <a:prstGeom prst="roundRect">
            <a:avLst>
              <a:gd name="adj" fmla="val 3061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0480" y="2834640"/>
            <a:ext cx="462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WinCheck+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0480" y="3255264"/>
            <a:ext cx="462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자료로 등록되어 있다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주기 · 칸 수를 화면에서 수정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병원 양식을 그대로 등록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 반영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5504688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인증 기준이 바뀌어도, 병원이 서식을 바꿔도 프로그램은 그대로 씁니다. 서식 관리는 저희가 맡습니다.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서식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점검표만으로는 인증이 채워지지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3442106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865376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· 안전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212848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낙상 · 투약오류 · 고장 보고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4794" y="1700784"/>
            <a:ext cx="3442106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9114" y="1865376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의약품 · 혈액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9114" y="2212848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반납 · 폐기 · 병동 신청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1221" y="1700784"/>
            <a:ext cx="3442106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5541" y="1865376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보건관리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5541" y="2212848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건강검진 · 상담일지 · 업무일지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2907792"/>
            <a:ext cx="3442106" cy="1024128"/>
          </a:xfrm>
          <a:prstGeom prst="roundRect">
            <a:avLst>
              <a:gd name="adj" fmla="val 8036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2688" y="3072384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· 총무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341985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결과 · 위탁업체 평가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74794" y="2907792"/>
            <a:ext cx="3442106" cy="1024128"/>
          </a:xfrm>
          <a:prstGeom prst="roundRect">
            <a:avLst>
              <a:gd name="adj" fmla="val 8036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9114" y="3072384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의무기록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9114" y="341985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완결도 · 법정 양식(의료법 별지)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1221" y="2907792"/>
            <a:ext cx="3442106" cy="1024128"/>
          </a:xfrm>
          <a:prstGeom prst="roundRect">
            <a:avLst>
              <a:gd name="adj" fmla="val 8036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65541" y="3072384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 · 사회복지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65541" y="341985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 점검 · 상담 · 프로그램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4242816"/>
            <a:ext cx="10874959" cy="1463040"/>
          </a:xfrm>
          <a:prstGeom prst="roundRect">
            <a:avLst>
              <a:gd name="adj" fmla="val 5625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" y="44439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76종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932688" y="49926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보고서 · 서식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10128" y="4517136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반복되는 표, 서명란, 정해진 문구까지 그대로 담습니다.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종이를 여러 부서가 쓰면 한 벌로 등록해 부서끼리 서식이 어긋나지 않게 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견본 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— 사고 보고 · 교육 결과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591056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점검표와 달리 항목마다 내용을 적는 서식입니다. 서명란 · 정해진 문구 · 사진까지 한 장에 담깁니다.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6675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D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9339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환자안전사고 보고서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1401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보고일 : 2026-08-20    부서 : 간호 · 병동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724912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48840"/>
                <a:gridCol w="1188720"/>
                <a:gridCol w="2148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발생일시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2026-08-19  14:30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발생장소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3병동 복도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사고 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낙상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손상 정도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 경위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 이동 중 미끄러짐. 목격자 있음.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활력징후 측정 · 주치의 보고 · 상처 없음 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복도 미끄럼 방지 매트 보강, 야간 순회 강화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보고자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김○○ (서명)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7C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22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수간호사 (서명)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99248" y="1993392"/>
            <a:ext cx="3834079" cy="1810512"/>
          </a:xfrm>
          <a:prstGeom prst="roundRect">
            <a:avLst>
              <a:gd name="adj" fmla="val 4545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73568" y="2157984"/>
            <a:ext cx="32854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첨부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973568" y="2505456"/>
            <a:ext cx="1551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7973568" y="2980944"/>
            <a:ext cx="155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현장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707728" y="2505456"/>
            <a:ext cx="1551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CD6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9707728" y="2980944"/>
            <a:ext cx="155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후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99248" y="3968496"/>
            <a:ext cx="3834079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73568" y="4151376"/>
            <a:ext cx="32854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이름은 병원 말로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973568" y="4498848"/>
            <a:ext cx="32854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틀을 「교육 결과 보고서」로 쓰면 칸 이름이 교육일시 · 대상 · 강사 · 내용으로 바뀝니다.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없는 칸은 숨깁니다.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관리하는 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 · QI · 감염관리 · 만족도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5300320" cy="1920240"/>
          </a:xfrm>
          <a:prstGeom prst="roundRect">
            <a:avLst>
              <a:gd name="adj" fmla="val 4286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1901952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2304288"/>
            <a:ext cx="467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위원회별로 쌓입니다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265176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 · 임시 / 의안 · 의결 / 참석 서명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질향상 · 감염 · 약사 · 인사 · 운영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1700784"/>
            <a:ext cx="5300320" cy="1920240"/>
          </a:xfrm>
          <a:prstGeom prst="roundRect">
            <a:avLst>
              <a:gd name="adj" fmla="val 4286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43904" y="1901952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QI 활동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43904" y="2304288"/>
            <a:ext cx="467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돌아갔는지를 봅니다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43904" y="265176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선정 → 현황 측정 → 개선 활동 → 결과 확인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단계가 눈에 보입니다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877056"/>
            <a:ext cx="53003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9264" y="4078224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감염관리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9264" y="4480560"/>
            <a:ext cx="467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기록을 모아 봅니다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" y="4828032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손위생 · 격리실 · 폐기물 · 노출 보고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부서는 자기 점검표로, 담당자는 한자리에서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3008" y="3877056"/>
            <a:ext cx="53003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43904" y="4078224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· 불만고충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43904" y="4480560"/>
            <a:ext cx="467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목소리도 기록입니다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43904" y="4828032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 · 보호자 · 직원 설문 집계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→ 처리 → 회신을 한 건으로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5669280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인증에서 자주 확인하는 것이 「위원회가 정말 열렸는가」와 「개선 활동이 결과까지 갔는가」입니다.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인증평가 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모으는 것이 아니라, 쌓여 있는 것을 꺼냅니다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5282032" cy="3584448"/>
          </a:xfrm>
          <a:prstGeom prst="roundRect">
            <a:avLst>
              <a:gd name="adj" fmla="val 2296"/>
            </a:avLst>
          </a:prstGeom>
          <a:solidFill>
            <a:srgbClr val="F7F2EC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1920240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2432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2개월 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32888" y="2432304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1년치 서류를 부서마다 요청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31272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 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3127248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기록을 찾아 다시 작성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38221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 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2888" y="3822192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 · 편철 · 목록 만들기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45171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32888" y="4517136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요청받은 자료를 찾아 헤맴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51296" y="1700784"/>
            <a:ext cx="5282032" cy="3584448"/>
          </a:xfrm>
          <a:prstGeom prst="roundRect">
            <a:avLst>
              <a:gd name="adj" fmla="val 2296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17056" y="1920240"/>
            <a:ext cx="455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17056" y="2432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5816" y="2432304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그날그날 체크 · 저장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17056" y="31272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5816" y="3127248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기간과 부서로 골라 조회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17056" y="38221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준비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5816" y="3822192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것만 출력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17056" y="45171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5816" y="4517136"/>
            <a:ext cx="3041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바로 확인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5486400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기간을 없애는 것이 아니라, 준비라는 일 자체를 평소로 옮깁니다.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1901952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누락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9264" y="2322576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 화면에서 체크하므로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날짜가 남지 않습니다.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4794" y="1700784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5690" y="1901952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교체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5690" y="2322576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서식이 프로그램에 있어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바뀌어도 그대로입니다.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1221" y="1700784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02117" y="1901952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간 편차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2117" y="2322576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서식을 함께 쓰므로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부서마다 다르지 않습니다.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621024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9264" y="3822192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준비 기간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9264" y="4242816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1년치를 모으는 일이 없어집니다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74794" y="3621024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85690" y="3822192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 대응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85690" y="4242816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자료를 그 자리에서 출력합니다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1221" y="3621024"/>
            <a:ext cx="3442106" cy="1755648"/>
          </a:xfrm>
          <a:prstGeom prst="roundRect">
            <a:avLst>
              <a:gd name="adj" fmla="val 4688"/>
            </a:avLst>
          </a:prstGeom>
          <a:solidFill>
            <a:srgbClr val="F5F9F8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02117" y="3822192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파악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02117" y="4242816"/>
            <a:ext cx="2820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진행 상황을 한눈에 봅니다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" y="5541264"/>
            <a:ext cx="10874959" cy="548640"/>
          </a:xfrm>
          <a:prstGeom prst="roundRect">
            <a:avLst>
              <a:gd name="adj" fmla="val 15000"/>
            </a:avLst>
          </a:prstGeom>
          <a:solidFill>
            <a:srgbClr val="0B4A45"/>
          </a:solidFill>
          <a:ln w="12700">
            <a:solidFill>
              <a:srgbClr val="0B4A45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24128" y="5541264"/>
            <a:ext cx="10143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프로그램만 드리지 않습니다 — 서식 등록 · 변경 · 신규 추가와 인증 준비 자문을 함께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2A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절차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676656"/>
            <a:ext cx="1087495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단계로 시작합니다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327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FC3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540432" cy="2432304"/>
          </a:xfrm>
          <a:prstGeom prst="roundRect">
            <a:avLst>
              <a:gd name="adj" fmla="val 3383"/>
            </a:avLst>
          </a:prstGeom>
          <a:solidFill>
            <a:srgbClr val="EAF4F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1993392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2615184"/>
            <a:ext cx="195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확인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3035808"/>
            <a:ext cx="195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쓰는 서식을 받습니다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3712464"/>
            <a:ext cx="195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: 사본 · 사진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36544" y="1755648"/>
            <a:ext cx="2540432" cy="2432304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9152" y="1993392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9152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29152" y="2615184"/>
            <a:ext cx="195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 등록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29152" y="3035808"/>
            <a:ext cx="195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서식과 대조해 병원 판으로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29152" y="3712464"/>
            <a:ext cx="195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: 등록 목록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4720" y="1755648"/>
            <a:ext cx="2540432" cy="2432304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7328" y="1993392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732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2615184"/>
            <a:ext cx="195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운영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7328" y="3035808"/>
            <a:ext cx="195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한두 부서로 먼저 써 봅니다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07328" y="3712464"/>
            <a:ext cx="195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: 사용 의견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2895" y="1755648"/>
            <a:ext cx="2540432" cy="2432304"/>
          </a:xfrm>
          <a:prstGeom prst="roundRect">
            <a:avLst>
              <a:gd name="adj" fmla="val 3383"/>
            </a:avLst>
          </a:prstGeom>
          <a:solidFill>
            <a:srgbClr val="FFFFFF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85503" y="1993392"/>
            <a:ext cx="493776" cy="49377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5503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5503" y="2615184"/>
            <a:ext cx="195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부서 확대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85503" y="3035808"/>
            <a:ext cx="195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F7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부서를 넓히고 담당자 안내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85503" y="3712464"/>
            <a:ext cx="195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: 부서별 계정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4462272"/>
            <a:ext cx="10874959" cy="1298448"/>
          </a:xfrm>
          <a:prstGeom prst="roundRect">
            <a:avLst>
              <a:gd name="adj" fmla="val 6338"/>
            </a:avLst>
          </a:prstGeom>
          <a:solidFill>
            <a:srgbClr val="FAF0E1"/>
          </a:solidFill>
          <a:ln w="12700">
            <a:solidFill>
              <a:srgbClr val="D6E4E1"/>
            </a:solidFill>
            <a:prstDash val="solid"/>
          </a:ln>
          <a:effectLst>
            <a:outerShdw sx="100000" sy="100000" kx="0" ky="0" algn="bl" rotWithShape="0" blurRad="152400" dist="38100" dir="5400000">
              <a:srgbClr val="0B4A45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24128" y="462686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70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준비해 주실 것은 하나입니다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24128" y="4992624"/>
            <a:ext cx="101434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쓰고 계신 점검표 · 보고서 양식(사본 또는 사진). 나머지는 저희가 진행합니다.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기간과 비용은 병원 규모 · 부서 수 · 서식 수에 따라 달라집니다 — 별도 협의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931920"/>
            <a:ext cx="4389120" cy="4389120"/>
          </a:xfrm>
          <a:prstGeom prst="ellipse">
            <a:avLst/>
          </a:prstGeom>
          <a:solidFill>
            <a:srgbClr val="0E7C6B">
              <a:alpha val="32000"/>
            </a:srgbClr>
          </a:solidFill>
          <a:ln w="12700">
            <a:solidFill>
              <a:srgbClr val="0E7C6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35331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계신 서식 한 부만 주십시오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706624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서식으로 화면을 만들어 보여 드리겠습니다.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CFE6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우리 병원 양식이 화면에서 어떻게 움직이는지 보신 뒤에 결정하셔도 늦지 않습니다.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42062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2688" y="46451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33088" y="42062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07408" y="46451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7808" y="42062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E7C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4370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7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82128" y="46451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5852160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D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WinCheck+  |  인증 · 적정성평가 지원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WinCheck+ 인증프로그램 제안</dc:title>
  <dc:subject>PptxGenJS Presentation</dc:subject>
  <dc:creator>PptxGenJS</dc:creator>
  <cp:lastModifiedBy>PptxGenJS</cp:lastModifiedBy>
  <cp:revision>1</cp:revision>
  <dcterms:created xsi:type="dcterms:W3CDTF">2026-08-20T08:53:45Z</dcterms:created>
  <dcterms:modified xsi:type="dcterms:W3CDTF">2026-08-20T08:53:45Z</dcterms:modified>
</cp:coreProperties>
</file>