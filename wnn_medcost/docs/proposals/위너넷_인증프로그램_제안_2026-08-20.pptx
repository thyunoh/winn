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핵심 메시지 = 인증 준비를 '평가 직전 몰아치기'에서 '평소에 쌓이는 것'으로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병원 담당자가 고개를 끄덕이게 만드는 것이 목표. 우리 제품 얘기는 아직 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문장으로 기억시킬 슬라이드. '새 양식을 배우지 않는다'가 병원의 가장 큰 저항을 없앤다.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6개 축. 이 뒤 슬라이드들이 각 축을 하나씩 펼친다.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15개 부서. 'SUNWOO 18개 모듈을 전수 조사해 옮겼다'는 사실이 신뢰 근거 — 질문 나오면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데모가 있으면 여기서 실제 화면을 보여주는 것이 가장 효과적.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경쟁 제품과의 진짜 차이. '개발 요청 없이 바뀐다'를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'주기 복합'은 실제로 구현된 기능. 종이와 화면이 어긋나지 않는다는 증거로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사진 첨부는 인증 실사에서 '했다'를 증명하는 가장 빠른 방법. 한글 파일명도 그대로 보존된다.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76종은 실제 등록 수. '표준 서식이 이미 들어 있다'가 도입 부담을 낮추는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위원회 목록은 병원마다 다르므로 '추가 가능'을 반드시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Before/After. 병원 담당자가 가장 공감하는 슬라이드이므로 시간을 넉넉히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정량 수치(몇 % 절감)는 병원마다 달라 넣지 않았다. 필요하면 도입 병원 실측 후 추가.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일정·비용은 위너넷이 병원별로 채워 넣을 자리. 임의 수치를 넣지 않았다.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가장 많이 나오는 네 가지. 다섯 번째(가격)는 다음 장에서 협의로 넘긴다.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연락처는 위너넷이 채울 자리(─ 로 비워 둠). 마무리 제안 = '서식 한 부 주시면 만들어 보여드린다'.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371600"/>
            <a:ext cx="4754880" cy="4754880"/>
          </a:xfrm>
          <a:prstGeom prst="ellipse">
            <a:avLst/>
          </a:prstGeom>
          <a:solidFill>
            <a:srgbClr val="0E7C6B">
              <a:alpha val="38000"/>
            </a:srgbClr>
          </a:solidFill>
          <a:ln w="12700">
            <a:solidFill>
              <a:srgbClr val="0E7C6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4206240"/>
            <a:ext cx="3108960" cy="3108960"/>
          </a:xfrm>
          <a:prstGeom prst="ellipse">
            <a:avLst/>
          </a:prstGeom>
          <a:solidFill>
            <a:srgbClr val="12A08A">
              <a:alpha val="26000"/>
            </a:srgbClr>
          </a:solidFill>
          <a:ln w="12700">
            <a:solidFill>
              <a:srgbClr val="12A08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9844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" kern="0" dirty="0">
                <a:solidFill>
                  <a:srgbClr val="7FBD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요양병원 인증평가 준비 제안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700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위너넷 인증프로그램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58368" y="26700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FE6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의료 질 향상 · 환자안전(QPS) 통합 관리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58368" y="32186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부서별 점검표부터 회의록 · 보고서까지, 인증 근거를 한 곳에 쌓습니다.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4041648"/>
            <a:ext cx="233172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E7C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16966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300여 종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58368" y="47365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부서별 점검표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91256" y="4041648"/>
            <a:ext cx="233172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E7C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91256" y="416966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76종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191256" y="47365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· 서식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24144" y="4041648"/>
            <a:ext cx="233172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E7C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24144" y="416966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15개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724144" y="47365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부서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59436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BD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위너넷  |  WinCheck+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지금인가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44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 준비는 늘 마지막 한 달에 몰립니다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700784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항목은 해마다 늘고, 확인하는 것은 결국 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「기록이 남아 있는가」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입니다.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그 기록은 부서마다 흩어진 종이와 파일에 있습니다.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2852928"/>
            <a:ext cx="5577840" cy="2651760"/>
          </a:xfrm>
          <a:prstGeom prst="roundRect">
            <a:avLst>
              <a:gd name="adj" fmla="val 3103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9264" y="305409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반복되는 장면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9264" y="3456432"/>
            <a:ext cx="4956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두 달 전부터 지난 1년치 점검표를 다시 모은다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바뀌면 쓰던 서식도 같이 사라진다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날짜를 뒤늦게 채워 넣는다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· 증빙은 개인 PC와 휴대폰에 흩어져 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01968" y="1700784"/>
            <a:ext cx="4901184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76288" y="1956816"/>
            <a:ext cx="128016" cy="621792"/>
          </a:xfrm>
          <a:prstGeom prst="roundRect">
            <a:avLst>
              <a:gd name="adj" fmla="val 42857"/>
            </a:avLst>
          </a:prstGeom>
          <a:solidFill>
            <a:srgbClr val="B4701C"/>
          </a:solidFill>
          <a:ln w="12700">
            <a:solidFill>
              <a:srgbClr val="B470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50608" y="1901952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기록이 없으면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50608" y="2249424"/>
            <a:ext cx="4078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해 동안 잘해도 평가에서는 「하지 않은 것」이 됩니다.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01968" y="3017520"/>
            <a:ext cx="4901184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76288" y="3273552"/>
            <a:ext cx="128016" cy="621792"/>
          </a:xfrm>
          <a:prstGeom prst="roundRect">
            <a:avLst>
              <a:gd name="adj" fmla="val 42857"/>
            </a:avLst>
          </a:prstGeom>
          <a:solidFill>
            <a:srgbClr val="B4701C"/>
          </a:solidFill>
          <a:ln w="12700">
            <a:solidFill>
              <a:srgbClr val="B470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50608" y="3218688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부서가 흩어지면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50608" y="3566160"/>
            <a:ext cx="4078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간호 · 약국 · 영양 · 시설이 서로 무엇을 쓰는지 모릅니다.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01968" y="4334256"/>
            <a:ext cx="4901184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76288" y="4590288"/>
            <a:ext cx="128016" cy="621792"/>
          </a:xfrm>
          <a:prstGeom prst="roundRect">
            <a:avLst>
              <a:gd name="adj" fmla="val 42857"/>
            </a:avLst>
          </a:prstGeom>
          <a:solidFill>
            <a:srgbClr val="B4701C"/>
          </a:solidFill>
          <a:ln w="12700">
            <a:solidFill>
              <a:srgbClr val="B470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0608" y="4535424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바뀌면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50608" y="4882896"/>
            <a:ext cx="4078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인수인계가 곧 서식 유실입니다.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01968" y="5614416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문제는 성실함이 아니라 기록이 남는 구조입니다.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4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371600"/>
            <a:ext cx="10844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" kern="0" dirty="0">
                <a:solidFill>
                  <a:srgbClr val="7FBD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58368" y="1773936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쓰던 서식 그대로, 화면에서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2743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CFE6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양식을 배우지 않습니다. 지금 병원이 쓰는 점검표 · 보고서를 그대로 화면에 옮겨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CFE6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제자리에서 체크하면, 인증에 필요한 근거가 날짜별로 쌓입니다.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58368" y="4224528"/>
            <a:ext cx="3456432" cy="1225296"/>
          </a:xfrm>
          <a:prstGeom prst="roundRect">
            <a:avLst>
              <a:gd name="adj" fmla="val 671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E7C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4425696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→ 화면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0976" y="4828032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인쇄·보관은 그대로 유지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52544" y="4224528"/>
            <a:ext cx="3456432" cy="1225296"/>
          </a:xfrm>
          <a:prstGeom prst="roundRect">
            <a:avLst>
              <a:gd name="adj" fmla="val 671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E7C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4425696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부서별로 나뉘어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45152" y="4828032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부서 것만 보인다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4224528"/>
            <a:ext cx="3456432" cy="1225296"/>
          </a:xfrm>
          <a:prstGeom prst="roundRect">
            <a:avLst>
              <a:gd name="adj" fmla="val 671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E7C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9328" y="4425696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평소에 쌓인다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39328" y="4828032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때 모으지 않는다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구성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44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인증에 필요한 것이 모두 한 화면 안에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737360"/>
            <a:ext cx="3419856" cy="1755648"/>
          </a:xfrm>
          <a:prstGeom prst="roundRect">
            <a:avLst>
              <a:gd name="adj" fmla="val 4688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993392"/>
            <a:ext cx="402336" cy="40233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01168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부서별 점검표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523744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· 매주 · 매월 점검을 부서별로. 표준 서식 300여 종 내장.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70832" y="1737360"/>
            <a:ext cx="3419856" cy="1755648"/>
          </a:xfrm>
          <a:prstGeom prst="roundRect">
            <a:avLst>
              <a:gd name="adj" fmla="val 4688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1993392"/>
            <a:ext cx="402336" cy="40233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75504" y="201168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· 서식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5152" y="2523744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사고보고 · 교육 · 상담 · 관리대장 등 76종.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1737360"/>
            <a:ext cx="3419856" cy="1755648"/>
          </a:xfrm>
          <a:prstGeom prst="roundRect">
            <a:avLst>
              <a:gd name="adj" fmla="val 4688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1993392"/>
            <a:ext cx="402336" cy="40233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87968" y="201168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회의록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57616" y="2523744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위원회별 회의록 — 의안 · 의결 · 참석 서명까지 한 장에.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" y="3767328"/>
            <a:ext cx="3419856" cy="1755648"/>
          </a:xfrm>
          <a:prstGeom prst="roundRect">
            <a:avLst>
              <a:gd name="adj" fmla="val 4688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2688" y="4023360"/>
            <a:ext cx="402336" cy="40233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04164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QI · 감염관리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2688" y="4553712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 향상 활동과 감염관리 기록을 같은 틀로 관리.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70832" y="3767328"/>
            <a:ext cx="3419856" cy="1755648"/>
          </a:xfrm>
          <a:prstGeom prst="roundRect">
            <a:avLst>
              <a:gd name="adj" fmla="val 4688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5152" y="4023360"/>
            <a:ext cx="402336" cy="40233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5152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75504" y="404164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만족도 · 불만고충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45152" y="4553712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설문과 고충 접수를 기록으로 남깁니다.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83296" y="3767328"/>
            <a:ext cx="3419856" cy="1755648"/>
          </a:xfrm>
          <a:prstGeom prst="roundRect">
            <a:avLst>
              <a:gd name="adj" fmla="val 4688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57616" y="4023360"/>
            <a:ext cx="402336" cy="40233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57616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887968" y="404164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인쇄 · 보관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57616" y="4553712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작성하고 종이 양식 그대로 출력합니다.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부서별 점검표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44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담당자는 자기 부서 것만 봅니다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773936"/>
            <a:ext cx="2008022" cy="658368"/>
          </a:xfrm>
          <a:prstGeom prst="roundRect">
            <a:avLst>
              <a:gd name="adj" fmla="val 11111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73936"/>
            <a:ext cx="200802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간호 · 병동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67558" y="1773936"/>
            <a:ext cx="2008022" cy="658368"/>
          </a:xfrm>
          <a:prstGeom prst="roundRect">
            <a:avLst>
              <a:gd name="adj" fmla="val 11111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67558" y="1773936"/>
            <a:ext cx="200802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약국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76749" y="1773936"/>
            <a:ext cx="2008022" cy="658368"/>
          </a:xfrm>
          <a:prstGeom prst="roundRect">
            <a:avLst>
              <a:gd name="adj" fmla="val 11111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6749" y="1773936"/>
            <a:ext cx="200802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영양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285939" y="1773936"/>
            <a:ext cx="2008022" cy="658368"/>
          </a:xfrm>
          <a:prstGeom prst="roundRect">
            <a:avLst>
              <a:gd name="adj" fmla="val 11111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85939" y="1773936"/>
            <a:ext cx="200802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495130" y="1773936"/>
            <a:ext cx="2008022" cy="658368"/>
          </a:xfrm>
          <a:prstGeom prst="roundRect">
            <a:avLst>
              <a:gd name="adj" fmla="val 11111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95130" y="1773936"/>
            <a:ext cx="200802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진단검사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" y="2633472"/>
            <a:ext cx="2008022" cy="658368"/>
          </a:xfrm>
          <a:prstGeom prst="roundRect">
            <a:avLst>
              <a:gd name="adj" fmla="val 11111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633472"/>
            <a:ext cx="200802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방사선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867558" y="2633472"/>
            <a:ext cx="2008022" cy="658368"/>
          </a:xfrm>
          <a:prstGeom prst="roundRect">
            <a:avLst>
              <a:gd name="adj" fmla="val 11111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67558" y="2633472"/>
            <a:ext cx="200802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인공신장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6749" y="2633472"/>
            <a:ext cx="2008022" cy="658368"/>
          </a:xfrm>
          <a:prstGeom prst="roundRect">
            <a:avLst>
              <a:gd name="adj" fmla="val 11111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6749" y="2633472"/>
            <a:ext cx="200802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물리재활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85939" y="2633472"/>
            <a:ext cx="2008022" cy="658368"/>
          </a:xfrm>
          <a:prstGeom prst="roundRect">
            <a:avLst>
              <a:gd name="adj" fmla="val 11111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85939" y="2633472"/>
            <a:ext cx="200802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의무기록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495130" y="2633472"/>
            <a:ext cx="2008022" cy="658368"/>
          </a:xfrm>
          <a:prstGeom prst="roundRect">
            <a:avLst>
              <a:gd name="adj" fmla="val 11111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95130" y="2633472"/>
            <a:ext cx="200802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원무 · 총무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8368" y="3493008"/>
            <a:ext cx="2008022" cy="658368"/>
          </a:xfrm>
          <a:prstGeom prst="roundRect">
            <a:avLst>
              <a:gd name="adj" fmla="val 11111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493008"/>
            <a:ext cx="200802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보건관리자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867558" y="3493008"/>
            <a:ext cx="2008022" cy="658368"/>
          </a:xfrm>
          <a:prstGeom prst="roundRect">
            <a:avLst>
              <a:gd name="adj" fmla="val 11111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67558" y="3493008"/>
            <a:ext cx="200802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사회복지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76749" y="3493008"/>
            <a:ext cx="2008022" cy="658368"/>
          </a:xfrm>
          <a:prstGeom prst="roundRect">
            <a:avLst>
              <a:gd name="adj" fmla="val 11111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6749" y="3493008"/>
            <a:ext cx="200802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진료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285939" y="3493008"/>
            <a:ext cx="2008022" cy="658368"/>
          </a:xfrm>
          <a:prstGeom prst="roundRect">
            <a:avLst>
              <a:gd name="adj" fmla="val 11111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85939" y="3493008"/>
            <a:ext cx="200802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감염관리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495130" y="3493008"/>
            <a:ext cx="2008022" cy="658368"/>
          </a:xfrm>
          <a:prstGeom prst="roundRect">
            <a:avLst>
              <a:gd name="adj" fmla="val 11111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95130" y="3493008"/>
            <a:ext cx="200802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QI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8368" y="4443984"/>
            <a:ext cx="108447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87552" y="462686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메뉴가 부서로 나뉘어 있어, 담당자는 자기 부서를 열면 그 부서 점검표만 나옵니다.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87552" y="5029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서식을 찾아 헤매지 않고, 다른 부서 것을 잘못 쓰는 일도 없습니다.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522208" y="45720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300여 종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8522208" y="51389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내장된 표준 점검표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방법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44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하는 일은 세 가지뿐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3371088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2103120"/>
            <a:ext cx="548640" cy="548640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87552" y="2798064"/>
            <a:ext cx="2712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부서와 서식을 고른다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3511296"/>
            <a:ext cx="2712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메뉴에서 내 부서를 열면 쓰던 점검표가 그대로 나옵니다.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6032" y="28346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FDC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395216" y="1828800"/>
            <a:ext cx="3371088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24400" y="2103120"/>
            <a:ext cx="548640" cy="548640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44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24400" y="2798064"/>
            <a:ext cx="2712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체크하고 값을 넣는다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24400" y="3511296"/>
            <a:ext cx="2712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칸에 표시하고, 필요하면 사진을 붙입니다.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02880" y="28346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FDC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8132064" y="1828800"/>
            <a:ext cx="3371088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61248" y="2103120"/>
            <a:ext cx="548640" cy="548640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61248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61248" y="2798064"/>
            <a:ext cx="2712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· 인쇄한다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61248" y="3511296"/>
            <a:ext cx="2712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저장하면 근거가 쌓이고, 종이 양식 그대로 출력됩니다.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" y="4626864"/>
            <a:ext cx="10844784" cy="1225296"/>
          </a:xfrm>
          <a:prstGeom prst="roundRect">
            <a:avLst>
              <a:gd name="adj" fmla="val 6716"/>
            </a:avLst>
          </a:prstGeom>
          <a:solidFill>
            <a:srgbClr val="FAF0E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87552" y="480974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교육이 거의 필요 없습니다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7552" y="517550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화면이 종이 서식과 같은 모양이라, 쓰던 대로 체크하면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44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서식이 프로그램에 박혀 있지 않습니다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700784"/>
            <a:ext cx="10424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점검표는 코드가 아니라 자료로 들어 있습니다. 그래서 병원마다 다른 양식도,</a:t>
            </a:r>
            <a:endParaRPr lang="en-US" sz="16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올해 바뀐 항목도 프로그램을 고치지 않고 반영할 수 있습니다.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2706624"/>
            <a:ext cx="5257800" cy="2651760"/>
          </a:xfrm>
          <a:prstGeom prst="roundRect">
            <a:avLst>
              <a:gd name="adj" fmla="val 3103"/>
            </a:avLst>
          </a:prstGeom>
          <a:solidFill>
            <a:srgbClr val="F7F2EC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87552" y="2907792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보통의 프로그램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87552" y="3328416"/>
            <a:ext cx="4599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서식이 화면에 그려져 있다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하나 바뀌면 개발 요청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병원마다 다른 양식은 포기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반영까지 몇 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5352" y="2706624"/>
            <a:ext cx="5257800" cy="2651760"/>
          </a:xfrm>
          <a:prstGeom prst="roundRect">
            <a:avLst>
              <a:gd name="adj" fmla="val 3103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74536" y="2907792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위너넷 인증프로그램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74536" y="3328416"/>
            <a:ext cx="4599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서식이 자료로 등록되어 있다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· 주기 · 칸 수를 화면에서 수정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병원 양식을 그대로 등록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당일 반영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5559552"/>
            <a:ext cx="10844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서식 관리는 위너넷이 맡습니다. 병원은 쓰기만 하면 됩니다.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빠짐 없이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44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· 매주 · 매월 · 연간을 한 장에서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792224"/>
            <a:ext cx="2519172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29968"/>
            <a:ext cx="1060704" cy="420624"/>
          </a:xfrm>
          <a:prstGeom prst="roundRect">
            <a:avLst>
              <a:gd name="adj" fmla="val 47826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029968"/>
            <a:ext cx="1060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2615184"/>
            <a:ext cx="19705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1~31일 격자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3017520"/>
            <a:ext cx="19705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냉장고 온도, 장비 점검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33572" y="1792224"/>
            <a:ext cx="2519172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07892" y="2029968"/>
            <a:ext cx="1060704" cy="420624"/>
          </a:xfrm>
          <a:prstGeom prst="roundRect">
            <a:avLst>
              <a:gd name="adj" fmla="val 47826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7892" y="2029968"/>
            <a:ext cx="1060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7892" y="2615184"/>
            <a:ext cx="19705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1~5주 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07892" y="3017520"/>
            <a:ext cx="19705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구역 청결, 재고 확인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08776" y="1792224"/>
            <a:ext cx="2519172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83096" y="2029968"/>
            <a:ext cx="1060704" cy="420624"/>
          </a:xfrm>
          <a:prstGeom prst="roundRect">
            <a:avLst>
              <a:gd name="adj" fmla="val 47826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83096" y="2029968"/>
            <a:ext cx="1060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83096" y="2615184"/>
            <a:ext cx="19705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1회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83096" y="3017520"/>
            <a:ext cx="19705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점검, 교육 실시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83980" y="1792224"/>
            <a:ext cx="2519172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58300" y="2029968"/>
            <a:ext cx="1060704" cy="420624"/>
          </a:xfrm>
          <a:prstGeom prst="roundRect">
            <a:avLst>
              <a:gd name="adj" fmla="val 47826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58300" y="2029968"/>
            <a:ext cx="1060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58300" y="2615184"/>
            <a:ext cx="19705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12개월 격자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58300" y="3017520"/>
            <a:ext cx="19705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정도관리, 계약 · 검교정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" y="4169664"/>
            <a:ext cx="10844784" cy="1609344"/>
          </a:xfrm>
          <a:prstGeom prst="roundRect">
            <a:avLst>
              <a:gd name="adj" fmla="val 5114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24128" y="43891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주기가 다른 점검이 한 서식에 섞여 있어도 됩니다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24128" y="4791456"/>
            <a:ext cx="9875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병원 서식은 한 장 안에 매일 표 · 매주 표 · 매월 표가 함께 있는 경우가 많습니다.</a:t>
            </a:r>
            <a:endParaRPr lang="en-US" sz="13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모양 그대로 등록되어, 종이와 같은 자리에 같은 방식으로 체크합니다.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44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사진이 서식에 붙습니다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719072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점검했다는 사실만이 아니라 그때의 상태를 남깁니다. 칸을 누르면 사진이 올라가고,</a:t>
            </a:r>
            <a:endParaRPr lang="en-US" sz="15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인쇄하면 서식과 사진이 함께 나옵니다.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58368" y="2761488"/>
            <a:ext cx="237744" cy="237744"/>
          </a:xfrm>
          <a:prstGeom prst="ellipse">
            <a:avLst/>
          </a:prstGeom>
          <a:solidFill>
            <a:srgbClr val="12A08A"/>
          </a:solidFill>
          <a:ln w="12700">
            <a:solidFill>
              <a:srgbClr val="12A0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27066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점검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816352" y="27066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소화기 · 비상구 · 게시물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3547872"/>
            <a:ext cx="237744" cy="237744"/>
          </a:xfrm>
          <a:prstGeom prst="ellipse">
            <a:avLst/>
          </a:prstGeom>
          <a:solidFill>
            <a:srgbClr val="12A08A"/>
          </a:solidFill>
          <a:ln w="12700">
            <a:solidFill>
              <a:srgbClr val="12A0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34930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· 행사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816352" y="34930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 장면과 참석 현황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4334256"/>
            <a:ext cx="237744" cy="237744"/>
          </a:xfrm>
          <a:prstGeom prst="ellipse">
            <a:avLst/>
          </a:prstGeom>
          <a:solidFill>
            <a:srgbClr val="12A08A"/>
          </a:solidFill>
          <a:ln w="12700">
            <a:solidFill>
              <a:srgbClr val="12A0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42793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기록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816352" y="42793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상담일지에 첨부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5120640"/>
            <a:ext cx="237744" cy="237744"/>
          </a:xfrm>
          <a:prstGeom prst="ellipse">
            <a:avLst/>
          </a:prstGeom>
          <a:solidFill>
            <a:srgbClr val="12A08A"/>
          </a:solidFill>
          <a:ln w="12700">
            <a:solidFill>
              <a:srgbClr val="12A0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50657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관리대장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816352" y="50657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· 물품 상태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67728" y="1719072"/>
            <a:ext cx="4535424" cy="3931920"/>
          </a:xfrm>
          <a:prstGeom prst="roundRect">
            <a:avLst>
              <a:gd name="adj" fmla="val 2093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78624" y="1920240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 하단 · 사진 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78624" y="2340864"/>
            <a:ext cx="184708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028432" y="2651760"/>
            <a:ext cx="347472" cy="347472"/>
          </a:xfrm>
          <a:prstGeom prst="ellipse">
            <a:avLst/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309067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45168" y="2340864"/>
            <a:ext cx="184708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0094976" y="2651760"/>
            <a:ext cx="347472" cy="347472"/>
          </a:xfrm>
          <a:prstGeom prst="ellipse">
            <a:avLst/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45168" y="309067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78624" y="3858768"/>
            <a:ext cx="184708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8028432" y="4169664"/>
            <a:ext cx="347472" cy="347472"/>
          </a:xfrm>
          <a:prstGeom prst="ellipse">
            <a:avLst/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78624" y="4608576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보관 상태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345168" y="3858768"/>
            <a:ext cx="184708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10094976" y="4169664"/>
            <a:ext cx="347472" cy="347472"/>
          </a:xfrm>
          <a:prstGeom prst="ellipse">
            <a:avLst/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45168" y="4608576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표시 · 라벨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· 서식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44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점검표만으로는 인증이 채워지지 않습니다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773936"/>
            <a:ext cx="3432048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956816"/>
            <a:ext cx="2883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 · 안전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32688" y="2322576"/>
            <a:ext cx="2883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낙상 · 투약오류 · 고장 보고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64736" y="1773936"/>
            <a:ext cx="3432048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39056" y="1956816"/>
            <a:ext cx="2883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의약품 · 혈액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39056" y="2322576"/>
            <a:ext cx="2883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반납 · 폐기 · 병동 신청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71104" y="1773936"/>
            <a:ext cx="3432048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45424" y="1956816"/>
            <a:ext cx="2883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보건관리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45424" y="2322576"/>
            <a:ext cx="2883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건강검진 · 상담일지 · 업무일지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3017520"/>
            <a:ext cx="3432048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2688" y="3200400"/>
            <a:ext cx="2883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 · 총무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32688" y="3566160"/>
            <a:ext cx="2883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결과 · 위탁업체 평가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64736" y="3017520"/>
            <a:ext cx="3432048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39056" y="3200400"/>
            <a:ext cx="2883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의무기록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39056" y="3566160"/>
            <a:ext cx="2883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완결도 · 법정 양식(의료법 별지)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71104" y="3017520"/>
            <a:ext cx="3432048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45424" y="3200400"/>
            <a:ext cx="2883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영양 · 사회복지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45424" y="3566160"/>
            <a:ext cx="2883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 점검 · 상담 · 프로그램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8368" y="4407408"/>
            <a:ext cx="10844784" cy="1371600"/>
          </a:xfrm>
          <a:prstGeom prst="roundRect">
            <a:avLst>
              <a:gd name="adj" fmla="val 6000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32688" y="45720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76종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932688" y="5138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등록된 보고서 · 서식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01568" y="4626864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반복되는 표, 서명란, 정해진 문구까지 그대로 담습니다. 같은 종이를 여러 부서가 쓰면</a:t>
            </a:r>
            <a:endParaRPr lang="en-US" sz="13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벌로 등록해 부서끼리 서식이 어긋나지 않게 했습니다.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44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위원회 회의록도 같은 방식으로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773936"/>
            <a:ext cx="5266944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1975104"/>
            <a:ext cx="4608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장에 들어가는 것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395728"/>
            <a:ext cx="46085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정기 · 임시 구분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일시 · 장소 · 간사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의안과 의결 내용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참석자 명단과 서명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회의 안건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6208" y="1773936"/>
            <a:ext cx="5266944" cy="3200400"/>
          </a:xfrm>
          <a:prstGeom prst="roundRect">
            <a:avLst>
              <a:gd name="adj" fmla="val 2571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65392" y="1975104"/>
            <a:ext cx="4608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위원회별로 따로 쌓입니다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65392" y="2432304"/>
            <a:ext cx="429768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48272" y="2432304"/>
            <a:ext cx="3986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 향상 · 환자안전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65392" y="2907792"/>
            <a:ext cx="429768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48272" y="2907792"/>
            <a:ext cx="3986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감염관리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65392" y="3383280"/>
            <a:ext cx="429768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3383280"/>
            <a:ext cx="3986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약사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65392" y="3858768"/>
            <a:ext cx="429768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48272" y="3858768"/>
            <a:ext cx="3986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65392" y="4334256"/>
            <a:ext cx="429768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4334256"/>
            <a:ext cx="3986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8368" y="5175504"/>
            <a:ext cx="10844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인증에서 자주 확인하는 것이 「위원회가 실제로 열렸는가」입니다. 회의록이 프로그램에 남으면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개최 실적을 따로 정리할 필요가 없습니다.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인증평가 대비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44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모으는 것이 아니라, 쌓여 있는 것을 꺼냅니다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773936"/>
            <a:ext cx="5266944" cy="3566160"/>
          </a:xfrm>
          <a:prstGeom prst="roundRect">
            <a:avLst>
              <a:gd name="adj" fmla="val 2308"/>
            </a:avLst>
          </a:prstGeom>
          <a:solidFill>
            <a:srgbClr val="F7F2EC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1993392"/>
            <a:ext cx="453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4128" y="24871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2개월 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61488" y="2487168"/>
            <a:ext cx="2798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1년치 서류를 부서마다 요청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318211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1개월 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61488" y="3182112"/>
            <a:ext cx="2798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기록을 찾아 다시 작성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38770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 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61488" y="3877056"/>
            <a:ext cx="2798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 · 편철 · 목록 만들기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45720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61488" y="4572000"/>
            <a:ext cx="2798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요청받은 자료를 찾아 헤맴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6208" y="1773936"/>
            <a:ext cx="5266944" cy="3566160"/>
          </a:xfrm>
          <a:prstGeom prst="roundRect">
            <a:avLst>
              <a:gd name="adj" fmla="val 2308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01968" y="1993392"/>
            <a:ext cx="453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후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601968" y="24871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39328" y="2487168"/>
            <a:ext cx="2798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그날그날 체크 · 저장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01968" y="318211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언제든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39328" y="3182112"/>
            <a:ext cx="2798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기간과 부서로 골라 조회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01968" y="38770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준비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39328" y="3877056"/>
            <a:ext cx="2798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것만 출력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01968" y="45720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당일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39328" y="4572000"/>
            <a:ext cx="2798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바로 확인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" y="5541264"/>
            <a:ext cx="10844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기간을 없애는 것이 아니라, 준비라는 일 자체를 평소로 옮깁니다.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효과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44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달라지는가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773936"/>
            <a:ext cx="3432048" cy="179222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9264" y="1975104"/>
            <a:ext cx="2810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 누락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9264" y="2414016"/>
            <a:ext cx="2810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그날 화면에서 체크하므로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날짜가 남지 않습니다.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64736" y="1773936"/>
            <a:ext cx="3432048" cy="179222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75632" y="1975104"/>
            <a:ext cx="2810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교체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75632" y="2414016"/>
            <a:ext cx="2810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서식이 프로그램에 있어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바뀌어도 그대로입니다.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71104" y="1773936"/>
            <a:ext cx="3432048" cy="179222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82000" y="1975104"/>
            <a:ext cx="2810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 간 편차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82000" y="2414016"/>
            <a:ext cx="2810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서식을 함께 쓰므로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부서마다 다르지 않습니다.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3877056"/>
            <a:ext cx="10844784" cy="1975104"/>
          </a:xfrm>
          <a:prstGeom prst="roundRect">
            <a:avLst>
              <a:gd name="adj" fmla="val 4167"/>
            </a:avLst>
          </a:prstGeom>
          <a:solidFill>
            <a:srgbClr val="0B4A45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60704" y="41148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위너넷이 함께 봅니다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60704" y="4590288"/>
            <a:ext cx="10058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CFE6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프로그램만 드리고 끝나지 않습니다. 서식 등록 · 항목 변경 · 새 양식 반영을 위너넷이 맡고,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CFE6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적정성평가 컨설팅에서 쌓은 경험으로 무엇을 남겨야 하는지 함께 정리합니다.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절차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44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단계로 시작합니다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2532888" cy="2286000"/>
          </a:xfrm>
          <a:prstGeom prst="roundRect">
            <a:avLst>
              <a:gd name="adj" fmla="val 3600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2084832"/>
            <a:ext cx="493776" cy="49377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084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50976" y="274320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확인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0976" y="3182112"/>
            <a:ext cx="1947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쓰는 서식을 받습니다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253288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21608" y="2084832"/>
            <a:ext cx="493776" cy="49377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21608" y="2084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21608" y="274320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 등록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21608" y="3182112"/>
            <a:ext cx="1947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서식과 대조해 병원 판으로 등록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99632" y="1828800"/>
            <a:ext cx="253288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2084832"/>
            <a:ext cx="493776" cy="49377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084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274320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시범 운영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3182112"/>
            <a:ext cx="1947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한두 부서로 먼저 써 봅니다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70264" y="1828800"/>
            <a:ext cx="253288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62872" y="2084832"/>
            <a:ext cx="493776" cy="49377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62872" y="2084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62872" y="274320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부서 확대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62872" y="3182112"/>
            <a:ext cx="1947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부서를 넓히고 담당자 안내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" y="4389120"/>
            <a:ext cx="10844784" cy="1389888"/>
          </a:xfrm>
          <a:prstGeom prst="roundRect">
            <a:avLst>
              <a:gd name="adj" fmla="val 5921"/>
            </a:avLst>
          </a:prstGeom>
          <a:solidFill>
            <a:srgbClr val="FAF0E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24128" y="457200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준비해 주실 것은 하나입니다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24128" y="495604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쓰고 계신 점검표 · 보고서 양식(사본 또는 사진). 나머지는 위너넷이 진행합니다.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24128" y="532180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기간과 비용은 병원 규모 · 부서 수 · 서식 수에 따라 달라집니다 — 별도 협의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묻는 질문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44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전에 확인하시는 것들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792224"/>
            <a:ext cx="526694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2029968"/>
            <a:ext cx="365760" cy="365760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44752" y="2011680"/>
            <a:ext cx="4169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쓰던 종이 서식을 버려야 하나요?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44752" y="2468880"/>
            <a:ext cx="4169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아닙니다. 화면에서 작성하고 같은 모양으로 인쇄합니다.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6208" y="1792224"/>
            <a:ext cx="5266944" cy="1572768"/>
          </a:xfrm>
          <a:prstGeom prst="roundRect">
            <a:avLst>
              <a:gd name="adj" fmla="val 5233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28816" y="2029968"/>
            <a:ext cx="365760" cy="365760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22592" y="2011680"/>
            <a:ext cx="4169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병원 양식이 달라도 되나요?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22592" y="2468880"/>
            <a:ext cx="4169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됩니다. 서식이 자료로 등록되어 병원 판으로 맞춥니다.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3602736"/>
            <a:ext cx="5266944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0976" y="3840480"/>
            <a:ext cx="365760" cy="365760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44752" y="3822192"/>
            <a:ext cx="4169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컴퓨터에 약합니다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44752" y="4279392"/>
            <a:ext cx="4169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체크와 숫자 입력이 전부입니다. 종이와 같은 자리에 표시합니다.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36208" y="3602736"/>
            <a:ext cx="5266944" cy="1572768"/>
          </a:xfrm>
          <a:prstGeom prst="roundRect">
            <a:avLst>
              <a:gd name="adj" fmla="val 5233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28816" y="3840480"/>
            <a:ext cx="365760" cy="365760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28816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22592" y="3822192"/>
            <a:ext cx="4169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자료도 옮길 수 있나요?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22592" y="4279392"/>
            <a:ext cx="4169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기록은 필요한 범위를 정해 협의합니다.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4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0E7C6B">
              <a:alpha val="32000"/>
            </a:srgbClr>
          </a:solidFill>
          <a:ln w="12700">
            <a:solidFill>
              <a:srgbClr val="0E7C6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371600"/>
            <a:ext cx="10844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" kern="0" dirty="0">
                <a:solidFill>
                  <a:srgbClr val="7FBD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1773936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쓰고 계신 서식 한 부만 주십시오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58368" y="274320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CFE6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서식으로 화면을 만들어 보여 드리겠습니다. 실제 우리 병원 양식이 화면에서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CFE6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움직이는지 보신 뒤에 결정하셔도 늦지 않습니다.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4261104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E7C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44256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32688" y="470001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위너넷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33088" y="4261104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E7C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7408" y="44256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연락처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07408" y="470001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07808" y="4261104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E7C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82128" y="44256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882128" y="470001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" y="5888736"/>
            <a:ext cx="10844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D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위너넷  |  WinCheck+  |  적정성평가 · 인증 컨설팅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위너넷 인증프로그램 제안</dc:title>
  <dc:subject>PptxGenJS Presentation</dc:subject>
  <dc:creator>위너넷</dc:creator>
  <cp:lastModifiedBy>위너넷</cp:lastModifiedBy>
  <cp:revision>1</cp:revision>
  <dcterms:created xsi:type="dcterms:W3CDTF">2026-08-20T08:25:51Z</dcterms:created>
  <dcterms:modified xsi:type="dcterms:W3CDTF">2026-08-20T08:25:51Z</dcterms:modified>
</cp:coreProperties>
</file>